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show the growth model of my thesis in three dimensions, first on the thesis test problem and then on a real molar, with stresses that I checked against mesh refinement.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growth model is the one of Klempt et al. 2024. I added a nutrient that the saliva supplies and the biofilm uses up, and a limit on growth by pressure. Only the first case is a thesis result, every stress I quote is mesh-converged, and no experimental data are used.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verification problem of Chapter 4: a seed in the centre of the 2 mm cube. The seed stress at the end agrees with the thesis value to 0.2 percent, and the stress forms a ring at the edge of the seed.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seed touches a clamped face, the stress concentrates in the biofilm next to it. The mean over that layer converges, to within one percent, and is ten to twelve times the free-seed value. The pointwise maximum at the corner keeps growing with refinement, so I only quote means and percentiles.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lower first molar at its real size, from a public data set under CC BY 4.0. A half-millimetre film sits on one flank near the gum line. The growth field converges to two percent; the stress colours come from the film model of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meshes of the whole box the film is only one or two elements thick and the stress does not converge. I solve the film alone with the tooth as rigid, down to 28 micrometres. With six elements across the film the mean converges to 3.3 millipascal, and the highest values sit in the tenth of a millimetre next to the tooth.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nutrient used up in the film, growth and stress drop to about one seventh; at the paper's ratio to two thirds. The pressure limit alone gives about 0.7. The consumption rate and the threshold are my choices.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nutrient used up in the film, growth and stress drop to about one seventh; at the paper's ratio to two thirds. The pressure limit alone gives about 0.7. The consumption rate and the threshold are my choices.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crown-shaped collar I use the four-species synthetic case of Fritsch et al. 2025 with their true parameters, so no experimental data enter. Growth is large here, so this run is finite strain.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three takes over and species four almost disappears. Without the limit the stress reaches 0.68 times E at the bonded base; with it, 0.12 times 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3D view reproduces the thesis value. Next to fixed surfaces the stress is ten to twelve times the free value. On the real molar the film needs six elements across it, and then the film mean is 3.3 millipascal. Next at Keio: the calibrated parameters on this tooth, and an implant.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6.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7.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103120"/>
            <a:ext cx="10332720" cy="914400"/>
          </a:xfrm>
          <a:prstGeom prst="rect">
            <a:avLst/>
          </a:prstGeom>
          <a:noFill/>
        </p:spPr>
        <p:txBody>
          <a:bodyPr wrap="square">
            <a:spAutoFit/>
          </a:bodyPr>
          <a:lstStyle/>
          <a:p>
            <a:pPr>
              <a:spcAft>
                <a:spcPts val="600"/>
              </a:spcAft>
            </a:pPr>
            <a:r>
              <a:rPr sz="4000" b="1">
                <a:solidFill>
                  <a:srgbClr val="1E50A0"/>
                </a:solidFill>
                <a:latin typeface="Times New Roman"/>
              </a:rPr>
              <a:t>Biofilm Growth and Stress on a Real Molar</a:t>
            </a:r>
          </a:p>
        </p:txBody>
      </p:sp>
      <p:sp>
        <p:nvSpPr>
          <p:cNvPr id="3" name="TextBox 2"/>
          <p:cNvSpPr txBox="1"/>
          <p:nvPr/>
        </p:nvSpPr>
        <p:spPr>
          <a:xfrm>
            <a:off x="914400" y="3017520"/>
            <a:ext cx="10332720" cy="914400"/>
          </a:xfrm>
          <a:prstGeom prst="rect">
            <a:avLst/>
          </a:prstGeom>
          <a:noFill/>
        </p:spPr>
        <p:txBody>
          <a:bodyPr wrap="square">
            <a:spAutoFit/>
          </a:bodyPr>
          <a:lstStyle/>
          <a:p>
            <a:pPr>
              <a:spcAft>
                <a:spcPts val="600"/>
              </a:spcAft>
            </a:pPr>
            <a:r>
              <a:rPr sz="2000" b="0">
                <a:latin typeface="Times New Roman"/>
              </a:rPr>
              <a:t>3D demonstrations of the growth model, with converged stresses and no experimental data</a:t>
            </a:r>
          </a:p>
        </p:txBody>
      </p:sp>
      <p:sp>
        <p:nvSpPr>
          <p:cNvPr id="4" name="TextBox 3"/>
          <p:cNvSpPr txBox="1"/>
          <p:nvPr/>
        </p:nvSpPr>
        <p:spPr>
          <a:xfrm>
            <a:off x="914400" y="4206240"/>
            <a:ext cx="10332720" cy="1371600"/>
          </a:xfrm>
          <a:prstGeom prst="rect">
            <a:avLst/>
          </a:prstGeom>
          <a:noFill/>
        </p:spPr>
        <p:txBody>
          <a:bodyPr wrap="square">
            <a:spAutoFit/>
          </a:bodyPr>
          <a:lstStyle/>
          <a:p>
            <a:pPr>
              <a:spcAft>
                <a:spcPts val="600"/>
              </a:spcAft>
            </a:pPr>
            <a:r>
              <a:rPr sz="1800" b="0">
                <a:latin typeface="Times New Roman"/>
              </a:rPr>
              <a:t>Keisuke Nishioka</a:t>
            </a:r>
          </a:p>
          <a:p>
            <a:pPr>
              <a:spcAft>
                <a:spcPts val="600"/>
              </a:spcAft>
            </a:pPr>
            <a:r>
              <a:rPr sz="1800" b="0">
                <a:latin typeface="Times New Roman"/>
              </a:rPr>
              <a:t>Institute of Continuum Mechanics (IKM), Leibniz Universität Hannover</a:t>
            </a:r>
          </a:p>
          <a:p>
            <a:pPr>
              <a:spcAft>
                <a:spcPts val="600"/>
              </a:spcAft>
            </a:pPr>
            <a:r>
              <a:rPr sz="1800" b="0">
                <a:latin typeface="Times New Roman"/>
              </a:rPr>
              <a:t>20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E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640080"/>
          </a:xfrm>
          <a:prstGeom prst="rect">
            <a:avLst/>
          </a:prstGeom>
          <a:noFill/>
        </p:spPr>
        <p:txBody>
          <a:bodyPr wrap="square">
            <a:spAutoFit/>
          </a:bodyPr>
          <a:lstStyle/>
          <a:p>
            <a:pPr>
              <a:spcAft>
                <a:spcPts val="600"/>
              </a:spcAft>
            </a:pPr>
            <a:r>
              <a:rPr sz="2600" b="0">
                <a:solidFill>
                  <a:srgbClr val="FFFFFF"/>
                </a:solidFill>
                <a:latin typeface="Times New Roman"/>
              </a:rPr>
              <a:t>What I show</a:t>
            </a:r>
          </a:p>
        </p:txBody>
      </p:sp>
      <p:sp>
        <p:nvSpPr>
          <p:cNvPr id="4" name="TextBox 3"/>
          <p:cNvSpPr txBox="1"/>
          <p:nvPr/>
        </p:nvSpPr>
        <p:spPr>
          <a:xfrm>
            <a:off x="10789920" y="6446520"/>
            <a:ext cx="1280160" cy="365760"/>
          </a:xfrm>
          <a:prstGeom prst="rect">
            <a:avLst/>
          </a:prstGeom>
          <a:noFill/>
        </p:spPr>
        <p:txBody>
          <a:bodyPr wrap="square">
            <a:spAutoFit/>
          </a:bodyPr>
          <a:lstStyle/>
          <a:p>
            <a:pPr>
              <a:spcAft>
                <a:spcPts val="600"/>
              </a:spcAft>
            </a:pPr>
            <a:r>
              <a:rPr sz="1200" b="0">
                <a:solidFill>
                  <a:srgbClr val="787878"/>
                </a:solidFill>
                <a:latin typeface="Times New Roman"/>
              </a:rPr>
              <a:t>2</a:t>
            </a:r>
          </a:p>
        </p:txBody>
      </p:sp>
      <p:sp>
        <p:nvSpPr>
          <p:cNvPr id="5" name="TextBox 4"/>
          <p:cNvSpPr txBox="1"/>
          <p:nvPr/>
        </p:nvSpPr>
        <p:spPr>
          <a:xfrm>
            <a:off x="548640" y="1097280"/>
            <a:ext cx="11064240" cy="5303520"/>
          </a:xfrm>
          <a:prstGeom prst="rect">
            <a:avLst/>
          </a:prstGeom>
          <a:noFill/>
        </p:spPr>
        <p:txBody>
          <a:bodyPr wrap="square">
            <a:spAutoFit/>
          </a:bodyPr>
          <a:lstStyle/>
          <a:p>
            <a:pPr>
              <a:spcAft>
                <a:spcPts val="600"/>
              </a:spcAft>
            </a:pPr>
            <a:r>
              <a:rPr sz="2000" b="0">
                <a:latin typeface="Times New Roman"/>
              </a:rPr>
              <a:t>• Growth model of Klempt et al. (2024): phase φ with dφ/dt = β∇²φ + k_α α (plus the bound on φ), growth F_g = α I, stiffness E(φ² + f), E = 10 Pa, ν = 0.49.</a:t>
            </a:r>
          </a:p>
          <a:p>
            <a:pPr>
              <a:spcAft>
                <a:spcPts val="600"/>
              </a:spcAft>
            </a:pPr>
            <a:r>
              <a:rPr sz="2000" b="0">
                <a:latin typeface="Times New Roman"/>
              </a:rPr>
              <a:t>• Added in this work: a nutrient supplied by the saliva and used up by the biofilm (Klempt et al. 2024, Eq. 35), and a growth limit by pressure, ω = min(1, max(0, 1 − p/p_h)).</a:t>
            </a:r>
          </a:p>
          <a:p>
            <a:pPr>
              <a:spcAft>
                <a:spcPts val="600"/>
              </a:spcAft>
            </a:pPr>
            <a:r>
              <a:rPr sz="2000" b="0">
                <a:latin typeface="Times New Roman"/>
              </a:rPr>
              <a:t>• Geometry: the thesis's 2 mm cube for verification, then a real lower first molar at its real size (surface from a public CC BY 4.0 data set).</a:t>
            </a:r>
          </a:p>
          <a:p>
            <a:pPr>
              <a:spcAft>
                <a:spcPts val="600"/>
              </a:spcAft>
            </a:pPr>
            <a:r>
              <a:rPr sz="2000" b="0">
                <a:latin typeface="Times New Roman"/>
              </a:rPr>
              <a:t>• Every stress I quote is checked against mesh refinement; values that do not converge are not quoted.</a:t>
            </a:r>
          </a:p>
          <a:p>
            <a:pPr>
              <a:spcAft>
                <a:spcPts val="600"/>
              </a:spcAft>
            </a:pPr>
            <a:r>
              <a:rPr sz="2000" b="0">
                <a:latin typeface="Times New Roman"/>
              </a:rPr>
              <a:t>• Only the verification problem is a thesis result. No experimental data are used.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E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640080"/>
          </a:xfrm>
          <a:prstGeom prst="rect">
            <a:avLst/>
          </a:prstGeom>
          <a:noFill/>
        </p:spPr>
        <p:txBody>
          <a:bodyPr wrap="square">
            <a:spAutoFit/>
          </a:bodyPr>
          <a:lstStyle/>
          <a:p>
            <a:pPr>
              <a:spcAft>
                <a:spcPts val="600"/>
              </a:spcAft>
            </a:pPr>
            <a:r>
              <a:rPr sz="2600" b="0">
                <a:solidFill>
                  <a:srgbClr val="FFFFFF"/>
                </a:solidFill>
                <a:latin typeface="Times New Roman"/>
              </a:rPr>
              <a:t>1. Verification: the thesis problem in 3D</a:t>
            </a:r>
          </a:p>
        </p:txBody>
      </p:sp>
      <p:sp>
        <p:nvSpPr>
          <p:cNvPr id="4" name="TextBox 3"/>
          <p:cNvSpPr txBox="1"/>
          <p:nvPr/>
        </p:nvSpPr>
        <p:spPr>
          <a:xfrm>
            <a:off x="10789920" y="6446520"/>
            <a:ext cx="1280160" cy="365760"/>
          </a:xfrm>
          <a:prstGeom prst="rect">
            <a:avLst/>
          </a:prstGeom>
          <a:noFill/>
        </p:spPr>
        <p:txBody>
          <a:bodyPr wrap="square">
            <a:spAutoFit/>
          </a:bodyPr>
          <a:lstStyle/>
          <a:p>
            <a:pPr>
              <a:spcAft>
                <a:spcPts val="600"/>
              </a:spcAft>
            </a:pPr>
            <a:r>
              <a:rPr sz="1200" b="0">
                <a:solidFill>
                  <a:srgbClr val="787878"/>
                </a:solidFill>
                <a:latin typeface="Times New Roman"/>
              </a:rPr>
              <a:t>3</a:t>
            </a:r>
          </a:p>
        </p:txBody>
      </p:sp>
      <p:pic>
        <p:nvPicPr>
          <p:cNvPr id="5" name="anim_wp3_seed_3d.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40080" y="914400"/>
            <a:ext cx="10881360" cy="4080510"/>
          </a:xfrm>
          <a:prstGeom prst="rect">
            <a:avLst/>
          </a:prstGeom>
        </p:spPr>
      </p:pic>
      <p:sp>
        <p:nvSpPr>
          <p:cNvPr id="6" name="TextBox 5"/>
          <p:cNvSpPr txBox="1"/>
          <p:nvPr/>
        </p:nvSpPr>
        <p:spPr>
          <a:xfrm>
            <a:off x="640080" y="5040630"/>
            <a:ext cx="10881360" cy="1463040"/>
          </a:xfrm>
          <a:prstGeom prst="rect">
            <a:avLst/>
          </a:prstGeom>
          <a:noFill/>
        </p:spPr>
        <p:txBody>
          <a:bodyPr wrap="square">
            <a:spAutoFit/>
          </a:bodyPr>
          <a:lstStyle/>
          <a:p>
            <a:pPr>
              <a:spcAft>
                <a:spcPts val="600"/>
              </a:spcAft>
            </a:pPr>
            <a:r>
              <a:rPr sz="1600" b="0">
                <a:latin typeface="Times New Roman"/>
              </a:rPr>
              <a:t>β = 0.02 mm²/T*, k_α = 1e−3 /T*, E = 10 Pa, ν = 0.49, T* = 1.1; one octant cut away. Seed von Mises at T* = 1.1: 6.19e−4 Pa (thesis, 16³: 6.18e−4 Pa). The stress forms a ring at the edge of the seed.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E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640080"/>
          </a:xfrm>
          <a:prstGeom prst="rect">
            <a:avLst/>
          </a:prstGeom>
          <a:noFill/>
        </p:spPr>
        <p:txBody>
          <a:bodyPr wrap="square">
            <a:spAutoFit/>
          </a:bodyPr>
          <a:lstStyle/>
          <a:p>
            <a:pPr>
              <a:spcAft>
                <a:spcPts val="600"/>
              </a:spcAft>
            </a:pPr>
            <a:r>
              <a:rPr sz="2600" b="0">
                <a:solidFill>
                  <a:srgbClr val="FFFFFF"/>
                </a:solidFill>
                <a:latin typeface="Times New Roman"/>
              </a:rPr>
              <a:t>2. Stress next to a fixed surface: what converges</a:t>
            </a:r>
          </a:p>
        </p:txBody>
      </p:sp>
      <p:sp>
        <p:nvSpPr>
          <p:cNvPr id="4" name="TextBox 3"/>
          <p:cNvSpPr txBox="1"/>
          <p:nvPr/>
        </p:nvSpPr>
        <p:spPr>
          <a:xfrm>
            <a:off x="10789920" y="6446520"/>
            <a:ext cx="1280160" cy="365760"/>
          </a:xfrm>
          <a:prstGeom prst="rect">
            <a:avLst/>
          </a:prstGeom>
          <a:noFill/>
        </p:spPr>
        <p:txBody>
          <a:bodyPr wrap="square">
            <a:spAutoFit/>
          </a:bodyPr>
          <a:lstStyle/>
          <a:p>
            <a:pPr>
              <a:spcAft>
                <a:spcPts val="600"/>
              </a:spcAft>
            </a:pPr>
            <a:r>
              <a:rPr sz="1200" b="0">
                <a:solidFill>
                  <a:srgbClr val="787878"/>
                </a:solidFill>
                <a:latin typeface="Times New Roman"/>
              </a:rPr>
              <a:t>4</a:t>
            </a:r>
          </a:p>
        </p:txBody>
      </p:sp>
      <p:pic>
        <p:nvPicPr>
          <p:cNvPr id="5" name="Picture 4" descr="fig_wall_convergence.png"/>
          <p:cNvPicPr>
            <a:picLocks noChangeAspect="1"/>
          </p:cNvPicPr>
          <p:nvPr/>
        </p:nvPicPr>
        <p:blipFill>
          <a:blip r:embed="rId2"/>
          <a:stretch>
            <a:fillRect/>
          </a:stretch>
        </p:blipFill>
        <p:spPr>
          <a:xfrm>
            <a:off x="1463040" y="914400"/>
            <a:ext cx="9144000" cy="4210672"/>
          </a:xfrm>
          <a:prstGeom prst="rect">
            <a:avLst/>
          </a:prstGeom>
        </p:spPr>
      </p:pic>
      <p:sp>
        <p:nvSpPr>
          <p:cNvPr id="6" name="TextBox 5"/>
          <p:cNvSpPr txBox="1"/>
          <p:nvPr/>
        </p:nvSpPr>
        <p:spPr>
          <a:xfrm>
            <a:off x="640080" y="5212080"/>
            <a:ext cx="10881360" cy="1463040"/>
          </a:xfrm>
          <a:prstGeom prst="rect">
            <a:avLst/>
          </a:prstGeom>
          <a:noFill/>
        </p:spPr>
        <p:txBody>
          <a:bodyPr wrap="square">
            <a:spAutoFit/>
          </a:bodyPr>
          <a:lstStyle/>
          <a:p>
            <a:pPr>
              <a:spcAft>
                <a:spcPts val="600"/>
              </a:spcAft>
            </a:pPr>
            <a:r>
              <a:rPr sz="1600" b="0">
                <a:latin typeface="Times New Roman"/>
              </a:rPr>
              <a:t>Seed on a clamped face of the cube, meshes 16³ to 48³. The mean stress in the biofilm next to the face converges (less than 1 % change from 24³ on) and is 10 to 12 times the seed stress of the verification problem. The pointwise maximum at the corner grows as about h^−0.4, so I quote means and percentiles only.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E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640080"/>
          </a:xfrm>
          <a:prstGeom prst="rect">
            <a:avLst/>
          </a:prstGeom>
          <a:noFill/>
        </p:spPr>
        <p:txBody>
          <a:bodyPr wrap="square">
            <a:spAutoFit/>
          </a:bodyPr>
          <a:lstStyle/>
          <a:p>
            <a:pPr>
              <a:spcAft>
                <a:spcPts val="600"/>
              </a:spcAft>
            </a:pPr>
            <a:r>
              <a:rPr sz="2600" b="0">
                <a:solidFill>
                  <a:srgbClr val="FFFFFF"/>
                </a:solidFill>
                <a:latin typeface="Times New Roman"/>
              </a:rPr>
              <a:t>3. A biofilm on a real molar</a:t>
            </a:r>
          </a:p>
        </p:txBody>
      </p:sp>
      <p:sp>
        <p:nvSpPr>
          <p:cNvPr id="4" name="TextBox 3"/>
          <p:cNvSpPr txBox="1"/>
          <p:nvPr/>
        </p:nvSpPr>
        <p:spPr>
          <a:xfrm>
            <a:off x="10789920" y="6446520"/>
            <a:ext cx="1280160" cy="365760"/>
          </a:xfrm>
          <a:prstGeom prst="rect">
            <a:avLst/>
          </a:prstGeom>
          <a:noFill/>
        </p:spPr>
        <p:txBody>
          <a:bodyPr wrap="square">
            <a:spAutoFit/>
          </a:bodyPr>
          <a:lstStyle/>
          <a:p>
            <a:pPr>
              <a:spcAft>
                <a:spcPts val="600"/>
              </a:spcAft>
            </a:pPr>
            <a:r>
              <a:rPr sz="1200" b="0">
                <a:solidFill>
                  <a:srgbClr val="787878"/>
                </a:solidFill>
                <a:latin typeface="Times New Roman"/>
              </a:rPr>
              <a:t>5</a:t>
            </a:r>
          </a:p>
        </p:txBody>
      </p:sp>
      <p:pic>
        <p:nvPicPr>
          <p:cNvPr id="5" name="anim_real_tooth_resolved_base_3d.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40080" y="914400"/>
            <a:ext cx="10881360" cy="4134916"/>
          </a:xfrm>
          <a:prstGeom prst="rect">
            <a:avLst/>
          </a:prstGeom>
        </p:spPr>
      </p:pic>
      <p:sp>
        <p:nvSpPr>
          <p:cNvPr id="6" name="TextBox 5"/>
          <p:cNvSpPr txBox="1"/>
          <p:nvPr/>
        </p:nvSpPr>
        <p:spPr>
          <a:xfrm>
            <a:off x="640080" y="5095036"/>
            <a:ext cx="10881360" cy="1645920"/>
          </a:xfrm>
          <a:prstGeom prst="rect">
            <a:avLst/>
          </a:prstGeom>
          <a:noFill/>
        </p:spPr>
        <p:txBody>
          <a:bodyPr wrap="square">
            <a:spAutoFit/>
          </a:bodyPr>
          <a:lstStyle/>
          <a:p>
            <a:pPr>
              <a:spcAft>
                <a:spcPts val="600"/>
              </a:spcAft>
            </a:pPr>
            <a:r>
              <a:rPr sz="1600" b="0">
                <a:latin typeface="Times New Roman"/>
              </a:rPr>
              <a:t>Lower first molar at real size (crown about 10 × 12 mm) in a 16 mm box, root clamped; a 0.5 mm film on one flank at the cervical third. β scaled to 0.08 mm²/T* (an assumption). Growth converged to 2 %; stress from the film model.</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E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640080"/>
          </a:xfrm>
          <a:prstGeom prst="rect">
            <a:avLst/>
          </a:prstGeom>
          <a:noFill/>
        </p:spPr>
        <p:txBody>
          <a:bodyPr wrap="square">
            <a:spAutoFit/>
          </a:bodyPr>
          <a:lstStyle/>
          <a:p>
            <a:pPr>
              <a:spcAft>
                <a:spcPts val="600"/>
              </a:spcAft>
            </a:pPr>
            <a:r>
              <a:rPr sz="2600" b="0">
                <a:solidFill>
                  <a:srgbClr val="FFFFFF"/>
                </a:solidFill>
                <a:latin typeface="Times New Roman"/>
              </a:rPr>
              <a:t>4. Resolving the stress in a 0.5 mm film</a:t>
            </a:r>
          </a:p>
        </p:txBody>
      </p:sp>
      <p:sp>
        <p:nvSpPr>
          <p:cNvPr id="4" name="TextBox 3"/>
          <p:cNvSpPr txBox="1"/>
          <p:nvPr/>
        </p:nvSpPr>
        <p:spPr>
          <a:xfrm>
            <a:off x="10789920" y="6446520"/>
            <a:ext cx="1280160" cy="365760"/>
          </a:xfrm>
          <a:prstGeom prst="rect">
            <a:avLst/>
          </a:prstGeom>
          <a:noFill/>
        </p:spPr>
        <p:txBody>
          <a:bodyPr wrap="square">
            <a:spAutoFit/>
          </a:bodyPr>
          <a:lstStyle/>
          <a:p>
            <a:pPr>
              <a:spcAft>
                <a:spcPts val="600"/>
              </a:spcAft>
            </a:pPr>
            <a:r>
              <a:rPr sz="1200" b="0">
                <a:solidFill>
                  <a:srgbClr val="787878"/>
                </a:solidFill>
                <a:latin typeface="Times New Roman"/>
              </a:rPr>
              <a:t>6</a:t>
            </a:r>
          </a:p>
        </p:txBody>
      </p:sp>
      <p:pic>
        <p:nvPicPr>
          <p:cNvPr id="5" name="Picture 4" descr="fig_real_tooth_submodel.png"/>
          <p:cNvPicPr>
            <a:picLocks noChangeAspect="1"/>
          </p:cNvPicPr>
          <p:nvPr/>
        </p:nvPicPr>
        <p:blipFill>
          <a:blip r:embed="rId2"/>
          <a:stretch>
            <a:fillRect/>
          </a:stretch>
        </p:blipFill>
        <p:spPr>
          <a:xfrm>
            <a:off x="3108960" y="868680"/>
            <a:ext cx="4440953" cy="4206240"/>
          </a:xfrm>
          <a:prstGeom prst="rect">
            <a:avLst/>
          </a:prstGeom>
        </p:spPr>
      </p:pic>
      <p:sp>
        <p:nvSpPr>
          <p:cNvPr id="6" name="TextBox 5"/>
          <p:cNvSpPr txBox="1"/>
          <p:nvPr/>
        </p:nvSpPr>
        <p:spPr>
          <a:xfrm>
            <a:off x="640080" y="5120640"/>
            <a:ext cx="10881360" cy="1645920"/>
          </a:xfrm>
          <a:prstGeom prst="rect">
            <a:avLst/>
          </a:prstGeom>
          <a:noFill/>
        </p:spPr>
        <p:txBody>
          <a:bodyPr wrap="square">
            <a:spAutoFit/>
          </a:bodyPr>
          <a:lstStyle/>
          <a:p>
            <a:pPr>
              <a:spcAft>
                <a:spcPts val="600"/>
              </a:spcAft>
            </a:pPr>
            <a:r>
              <a:rPr sz="1500" b="0">
                <a:latin typeface="Times New Roman"/>
              </a:rPr>
              <a:t>On meshes of the whole box the film is one or two elements thick and the stress does not converge. I solve the film alone with the tooth rigid (0.1 % effect), down to h = 0.028 mm. With six elements across the film the means converge: film 3.3 mPa (±1 %), cervical band 3.5, the 0.1 mm next to the tooth 7.8, 95th percentile 10.5 mPa.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E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640080"/>
          </a:xfrm>
          <a:prstGeom prst="rect">
            <a:avLst/>
          </a:prstGeom>
          <a:noFill/>
        </p:spPr>
        <p:txBody>
          <a:bodyPr wrap="square">
            <a:spAutoFit/>
          </a:bodyPr>
          <a:lstStyle/>
          <a:p>
            <a:pPr>
              <a:spcAft>
                <a:spcPts val="600"/>
              </a:spcAft>
            </a:pPr>
            <a:r>
              <a:rPr sz="2600" b="0">
                <a:solidFill>
                  <a:srgbClr val="FFFFFF"/>
                </a:solidFill>
                <a:latin typeface="Times New Roman"/>
              </a:rPr>
              <a:t>5. Nutrient and the growth limit on the molar</a:t>
            </a:r>
          </a:p>
        </p:txBody>
      </p:sp>
      <p:sp>
        <p:nvSpPr>
          <p:cNvPr id="4" name="TextBox 3"/>
          <p:cNvSpPr txBox="1"/>
          <p:nvPr/>
        </p:nvSpPr>
        <p:spPr>
          <a:xfrm>
            <a:off x="10789920" y="6446520"/>
            <a:ext cx="1280160" cy="365760"/>
          </a:xfrm>
          <a:prstGeom prst="rect">
            <a:avLst/>
          </a:prstGeom>
          <a:noFill/>
        </p:spPr>
        <p:txBody>
          <a:bodyPr wrap="square">
            <a:spAutoFit/>
          </a:bodyPr>
          <a:lstStyle/>
          <a:p>
            <a:pPr>
              <a:spcAft>
                <a:spcPts val="600"/>
              </a:spcAft>
            </a:pPr>
            <a:r>
              <a:rPr sz="1200" b="0">
                <a:solidFill>
                  <a:srgbClr val="787878"/>
                </a:solidFill>
                <a:latin typeface="Times New Roman"/>
              </a:rPr>
              <a:t>7</a:t>
            </a:r>
          </a:p>
        </p:txBody>
      </p:sp>
      <p:pic>
        <p:nvPicPr>
          <p:cNvPr id="5" name="Picture 4" descr="fig_real_tooth_resolved.png"/>
          <p:cNvPicPr>
            <a:picLocks noChangeAspect="1"/>
          </p:cNvPicPr>
          <p:nvPr/>
        </p:nvPicPr>
        <p:blipFill>
          <a:blip r:embed="rId2"/>
          <a:stretch>
            <a:fillRect/>
          </a:stretch>
        </p:blipFill>
        <p:spPr>
          <a:xfrm>
            <a:off x="1737360" y="868680"/>
            <a:ext cx="8686800" cy="4022415"/>
          </a:xfrm>
          <a:prstGeom prst="rect">
            <a:avLst/>
          </a:prstGeom>
        </p:spPr>
      </p:pic>
      <p:sp>
        <p:nvSpPr>
          <p:cNvPr id="6" name="TextBox 5"/>
          <p:cNvSpPr txBox="1"/>
          <p:nvPr/>
        </p:nvSpPr>
        <p:spPr>
          <a:xfrm>
            <a:off x="640080" y="4983480"/>
            <a:ext cx="10881360" cy="1737360"/>
          </a:xfrm>
          <a:prstGeom prst="rect">
            <a:avLst/>
          </a:prstGeom>
          <a:noFill/>
        </p:spPr>
        <p:txBody>
          <a:bodyPr wrap="square">
            <a:spAutoFit/>
          </a:bodyPr>
          <a:lstStyle/>
          <a:p>
            <a:pPr>
              <a:spcAft>
                <a:spcPts val="600"/>
              </a:spcAft>
            </a:pPr>
            <a:r>
              <a:rPr sz="1500" b="0">
                <a:latin typeface="Times New Roman"/>
              </a:rPr>
              <a:t>Nutrient from the saliva, consumption gφc with g/d = 10 /mm² (chosen; 10 times the Table 2 ratio): c falls to 0.07 at the tooth, growth and stress drop to about one seventh. At the Table 2 ratio they drop to 0.68. The growth limit alone (p_h half the film pressure without it, a choice) gives 0.71. Stress: end states re-solved with the film model.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E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640080"/>
          </a:xfrm>
          <a:prstGeom prst="rect">
            <a:avLst/>
          </a:prstGeom>
          <a:noFill/>
        </p:spPr>
        <p:txBody>
          <a:bodyPr wrap="square">
            <a:spAutoFit/>
          </a:bodyPr>
          <a:lstStyle/>
          <a:p>
            <a:pPr>
              <a:spcAft>
                <a:spcPts val="600"/>
              </a:spcAft>
            </a:pPr>
            <a:r>
              <a:rPr sz="2600" b="0">
                <a:solidFill>
                  <a:srgbClr val="FFFFFF"/>
                </a:solidFill>
                <a:latin typeface="Times New Roman"/>
              </a:rPr>
              <a:t>5. Nutrient and growth limit: videos</a:t>
            </a:r>
          </a:p>
        </p:txBody>
      </p:sp>
      <p:sp>
        <p:nvSpPr>
          <p:cNvPr id="4" name="TextBox 3"/>
          <p:cNvSpPr txBox="1"/>
          <p:nvPr/>
        </p:nvSpPr>
        <p:spPr>
          <a:xfrm>
            <a:off x="10789920" y="6446520"/>
            <a:ext cx="1280160" cy="365760"/>
          </a:xfrm>
          <a:prstGeom prst="rect">
            <a:avLst/>
          </a:prstGeom>
          <a:noFill/>
        </p:spPr>
        <p:txBody>
          <a:bodyPr wrap="square">
            <a:spAutoFit/>
          </a:bodyPr>
          <a:lstStyle/>
          <a:p>
            <a:pPr>
              <a:spcAft>
                <a:spcPts val="600"/>
              </a:spcAft>
            </a:pPr>
            <a:r>
              <a:rPr sz="1200" b="0">
                <a:solidFill>
                  <a:srgbClr val="787878"/>
                </a:solidFill>
                <a:latin typeface="Times New Roman"/>
              </a:rPr>
              <a:t>8</a:t>
            </a:r>
          </a:p>
        </p:txBody>
      </p:sp>
      <p:pic>
        <p:nvPicPr>
          <p:cNvPr id="5" name="anim_real_tooth_resolved_nutrient_gate_3d.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40080" y="914400"/>
            <a:ext cx="10881360" cy="4134916"/>
          </a:xfrm>
          <a:prstGeom prst="rect">
            <a:avLst/>
          </a:prstGeom>
        </p:spPr>
      </p:pic>
      <p:sp>
        <p:nvSpPr>
          <p:cNvPr id="6" name="TextBox 5"/>
          <p:cNvSpPr txBox="1"/>
          <p:nvPr/>
        </p:nvSpPr>
        <p:spPr>
          <a:xfrm>
            <a:off x="640080" y="5095036"/>
            <a:ext cx="10881360" cy="1463040"/>
          </a:xfrm>
          <a:prstGeom prst="rect">
            <a:avLst/>
          </a:prstGeom>
          <a:noFill/>
        </p:spPr>
        <p:txBody>
          <a:bodyPr wrap="square">
            <a:spAutoFit/>
          </a:bodyPr>
          <a:lstStyle/>
          <a:p>
            <a:pPr>
              <a:spcAft>
                <a:spcPts val="600"/>
              </a:spcAft>
            </a:pPr>
            <a:r>
              <a:rPr sz="1600" b="0">
                <a:latin typeface="Times New Roman"/>
              </a:rPr>
              <a:t>Nutrient and growth limit together; same colour scale for the stress as the base video (0 to 14.2 mPa).</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E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640080"/>
          </a:xfrm>
          <a:prstGeom prst="rect">
            <a:avLst/>
          </a:prstGeom>
          <a:noFill/>
        </p:spPr>
        <p:txBody>
          <a:bodyPr wrap="square">
            <a:spAutoFit/>
          </a:bodyPr>
          <a:lstStyle/>
          <a:p>
            <a:pPr>
              <a:spcAft>
                <a:spcPts val="600"/>
              </a:spcAft>
            </a:pPr>
            <a:r>
              <a:rPr sz="2600" b="0">
                <a:solidFill>
                  <a:srgbClr val="FFFFFF"/>
                </a:solidFill>
                <a:latin typeface="Times New Roman"/>
              </a:rPr>
              <a:t>6. Four species on a tooth-like collar (synthetic data)</a:t>
            </a:r>
          </a:p>
        </p:txBody>
      </p:sp>
      <p:sp>
        <p:nvSpPr>
          <p:cNvPr id="4" name="TextBox 3"/>
          <p:cNvSpPr txBox="1"/>
          <p:nvPr/>
        </p:nvSpPr>
        <p:spPr>
          <a:xfrm>
            <a:off x="10789920" y="6446520"/>
            <a:ext cx="1280160" cy="365760"/>
          </a:xfrm>
          <a:prstGeom prst="rect">
            <a:avLst/>
          </a:prstGeom>
          <a:noFill/>
        </p:spPr>
        <p:txBody>
          <a:bodyPr wrap="square">
            <a:spAutoFit/>
          </a:bodyPr>
          <a:lstStyle/>
          <a:p>
            <a:pPr>
              <a:spcAft>
                <a:spcPts val="600"/>
              </a:spcAft>
            </a:pPr>
            <a:r>
              <a:rPr sz="1200" b="0">
                <a:solidFill>
                  <a:srgbClr val="787878"/>
                </a:solidFill>
                <a:latin typeface="Times New Roman"/>
              </a:rPr>
              <a:t>9</a:t>
            </a:r>
          </a:p>
        </p:txBody>
      </p:sp>
      <p:pic>
        <p:nvPicPr>
          <p:cNvPr id="5" name="anim_cervical_f4_3d.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40080" y="914400"/>
            <a:ext cx="10881360" cy="4134916"/>
          </a:xfrm>
          <a:prstGeom prst="rect">
            <a:avLst/>
          </a:prstGeom>
        </p:spPr>
      </p:pic>
      <p:sp>
        <p:nvSpPr>
          <p:cNvPr id="6" name="TextBox 5"/>
          <p:cNvSpPr txBox="1"/>
          <p:nvPr/>
        </p:nvSpPr>
        <p:spPr>
          <a:xfrm>
            <a:off x="640080" y="5095036"/>
            <a:ext cx="10881360" cy="1828800"/>
          </a:xfrm>
          <a:prstGeom prst="rect">
            <a:avLst/>
          </a:prstGeom>
          <a:noFill/>
        </p:spPr>
        <p:txBody>
          <a:bodyPr wrap="square">
            <a:spAutoFit/>
          </a:bodyPr>
          <a:lstStyle/>
          <a:p>
            <a:pPr>
              <a:spcAft>
                <a:spcPts val="600"/>
              </a:spcAft>
            </a:pPr>
            <a:r>
              <a:rPr sz="1600" b="0">
                <a:latin typeface="Times New Roman"/>
              </a:rPr>
              <a:t>A 0.25 mm layer on a crown-shaped collar, inner face bonded, nutrient from the outside. Point model: the four-species case of Fritsch et al. (2025) with their true parameters. One quarter cut away; finite strain.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E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640080"/>
          </a:xfrm>
          <a:prstGeom prst="rect">
            <a:avLst/>
          </a:prstGeom>
          <a:noFill/>
        </p:spPr>
        <p:txBody>
          <a:bodyPr wrap="square">
            <a:spAutoFit/>
          </a:bodyPr>
          <a:lstStyle/>
          <a:p>
            <a:pPr>
              <a:spcAft>
                <a:spcPts val="600"/>
              </a:spcAft>
            </a:pPr>
            <a:r>
              <a:rPr sz="2600" b="0">
                <a:solidFill>
                  <a:srgbClr val="FFFFFF"/>
                </a:solidFill>
                <a:latin typeface="Times New Roman"/>
              </a:rPr>
              <a:t>6. Section and composition</a:t>
            </a:r>
          </a:p>
        </p:txBody>
      </p:sp>
      <p:sp>
        <p:nvSpPr>
          <p:cNvPr id="4" name="TextBox 3"/>
          <p:cNvSpPr txBox="1"/>
          <p:nvPr/>
        </p:nvSpPr>
        <p:spPr>
          <a:xfrm>
            <a:off x="10789920" y="6446520"/>
            <a:ext cx="1280160" cy="365760"/>
          </a:xfrm>
          <a:prstGeom prst="rect">
            <a:avLst/>
          </a:prstGeom>
          <a:noFill/>
        </p:spPr>
        <p:txBody>
          <a:bodyPr wrap="square">
            <a:spAutoFit/>
          </a:bodyPr>
          <a:lstStyle/>
          <a:p>
            <a:pPr>
              <a:spcAft>
                <a:spcPts val="600"/>
              </a:spcAft>
            </a:pPr>
            <a:r>
              <a:rPr sz="1200" b="0">
                <a:solidFill>
                  <a:srgbClr val="787878"/>
                </a:solidFill>
                <a:latin typeface="Times New Roman"/>
              </a:rPr>
              <a:t>10</a:t>
            </a:r>
          </a:p>
        </p:txBody>
      </p:sp>
      <p:pic>
        <p:nvPicPr>
          <p:cNvPr id="5" name="Picture 4" descr="fig_cervical_f4.png"/>
          <p:cNvPicPr>
            <a:picLocks noChangeAspect="1"/>
          </p:cNvPicPr>
          <p:nvPr/>
        </p:nvPicPr>
        <p:blipFill>
          <a:blip r:embed="rId2"/>
          <a:stretch>
            <a:fillRect/>
          </a:stretch>
        </p:blipFill>
        <p:spPr>
          <a:xfrm>
            <a:off x="1280160" y="914400"/>
            <a:ext cx="9601200" cy="4251434"/>
          </a:xfrm>
          <a:prstGeom prst="rect">
            <a:avLst/>
          </a:prstGeom>
        </p:spPr>
      </p:pic>
      <p:sp>
        <p:nvSpPr>
          <p:cNvPr id="6" name="TextBox 5"/>
          <p:cNvSpPr txBox="1"/>
          <p:nvPr/>
        </p:nvSpPr>
        <p:spPr>
          <a:xfrm>
            <a:off x="640080" y="5257800"/>
            <a:ext cx="10881360" cy="1463040"/>
          </a:xfrm>
          <a:prstGeom prst="rect">
            <a:avLst/>
          </a:prstGeom>
          <a:noFill/>
        </p:spPr>
        <p:txBody>
          <a:bodyPr wrap="square">
            <a:spAutoFit/>
          </a:bodyPr>
          <a:lstStyle/>
          <a:p>
            <a:pPr>
              <a:spcAft>
                <a:spcPts val="600"/>
              </a:spcAft>
            </a:pPr>
            <a:r>
              <a:rPr sz="1600" b="0">
                <a:latin typeface="Times New Roman"/>
              </a:rPr>
              <a:t>(a) Species 3 takes over the seed (share 0.47), species 4 almost disappears (0.02). (b), (c) Section at 45°: without the limit the von Mises stress reaches 0.68 E at the bonded base; with p_h/E = 0.05 the largest value is 0.12 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E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640080"/>
          </a:xfrm>
          <a:prstGeom prst="rect">
            <a:avLst/>
          </a:prstGeom>
          <a:noFill/>
        </p:spPr>
        <p:txBody>
          <a:bodyPr wrap="square">
            <a:spAutoFit/>
          </a:bodyPr>
          <a:lstStyle/>
          <a:p>
            <a:pPr>
              <a:spcAft>
                <a:spcPts val="600"/>
              </a:spcAft>
            </a:pPr>
            <a:r>
              <a:rPr sz="2600" b="0">
                <a:solidFill>
                  <a:srgbClr val="FFFFFF"/>
                </a:solidFill>
                <a:latin typeface="Times New Roman"/>
              </a:rPr>
              <a:t>Summary</a:t>
            </a:r>
          </a:p>
        </p:txBody>
      </p:sp>
      <p:sp>
        <p:nvSpPr>
          <p:cNvPr id="4" name="TextBox 3"/>
          <p:cNvSpPr txBox="1"/>
          <p:nvPr/>
        </p:nvSpPr>
        <p:spPr>
          <a:xfrm>
            <a:off x="10789920" y="6446520"/>
            <a:ext cx="1280160" cy="365760"/>
          </a:xfrm>
          <a:prstGeom prst="rect">
            <a:avLst/>
          </a:prstGeom>
          <a:noFill/>
        </p:spPr>
        <p:txBody>
          <a:bodyPr wrap="square">
            <a:spAutoFit/>
          </a:bodyPr>
          <a:lstStyle/>
          <a:p>
            <a:pPr>
              <a:spcAft>
                <a:spcPts val="600"/>
              </a:spcAft>
            </a:pPr>
            <a:r>
              <a:rPr sz="1200" b="0">
                <a:solidFill>
                  <a:srgbClr val="787878"/>
                </a:solidFill>
                <a:latin typeface="Times New Roman"/>
              </a:rPr>
              <a:t>11</a:t>
            </a:r>
          </a:p>
        </p:txBody>
      </p:sp>
      <p:sp>
        <p:nvSpPr>
          <p:cNvPr id="5" name="TextBox 4"/>
          <p:cNvSpPr txBox="1"/>
          <p:nvPr/>
        </p:nvSpPr>
        <p:spPr>
          <a:xfrm>
            <a:off x="548640" y="1188720"/>
            <a:ext cx="11064240" cy="5120640"/>
          </a:xfrm>
          <a:prstGeom prst="rect">
            <a:avLst/>
          </a:prstGeom>
          <a:noFill/>
        </p:spPr>
        <p:txBody>
          <a:bodyPr wrap="square">
            <a:spAutoFit/>
          </a:bodyPr>
          <a:lstStyle/>
          <a:p>
            <a:pPr>
              <a:spcAft>
                <a:spcPts val="600"/>
              </a:spcAft>
            </a:pPr>
            <a:r>
              <a:rPr sz="2000" b="0">
                <a:latin typeface="Times New Roman"/>
              </a:rPr>
              <a:t>• The 3D view reproduces the thesis value of the seed stress (0.2 % difference).</a:t>
            </a:r>
          </a:p>
          <a:p>
            <a:pPr>
              <a:spcAft>
                <a:spcPts val="600"/>
              </a:spcAft>
            </a:pPr>
            <a:r>
              <a:rPr sz="2000" b="0">
                <a:latin typeface="Times New Roman"/>
              </a:rPr>
              <a:t>• Next to a fixed surface the biofilm stress is 10 to 12 times the free-seed value (converged band mean).</a:t>
            </a:r>
          </a:p>
          <a:p>
            <a:pPr>
              <a:spcAft>
                <a:spcPts val="600"/>
              </a:spcAft>
            </a:pPr>
            <a:r>
              <a:rPr sz="2000" b="0">
                <a:latin typeface="Times New Roman"/>
              </a:rPr>
              <a:t>• On a real molar a 0.5 mm film needs about six elements across it; then the film mean is 3.3 mPa (E = 10 Pa), highest in the 0.1 mm next to the tooth.</a:t>
            </a:r>
          </a:p>
          <a:p>
            <a:pPr>
              <a:spcAft>
                <a:spcPts val="600"/>
              </a:spcAft>
            </a:pPr>
            <a:r>
              <a:rPr sz="2000" b="0">
                <a:latin typeface="Times New Roman"/>
              </a:rPr>
              <a:t>• A nutrient limited by consumption lowers growth and stress more than the pressure limit.</a:t>
            </a:r>
          </a:p>
          <a:p>
            <a:pPr>
              <a:spcAft>
                <a:spcPts val="600"/>
              </a:spcAft>
            </a:pPr>
            <a:r>
              <a:rPr sz="2000" b="0">
                <a:latin typeface="Times New Roman"/>
              </a:rPr>
              <a:t>• Tooth surface: Diaz, Ferro Sánchez, Campo, Mendeley Data (2024), doi:10.17632/xjsx7nfhj8.1, CC BY 4.0.</a:t>
            </a:r>
          </a:p>
          <a:p>
            <a:pPr>
              <a:spcAft>
                <a:spcPts val="600"/>
              </a:spcAft>
            </a:pPr>
            <a:r>
              <a:rPr sz="2000" b="0">
                <a:latin typeface="Times New Roman"/>
              </a:rPr>
              <a:t>• Next at Keio: the calibrated parameters of Chapter 3 on this molar, and an implant.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