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show the growth model of my thesis in three dimensions, first the verification problem and then three demonstrations with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videos show the biofilm phase, the growth and the von Mises stress over time. The growth model is the one of Klempt et al. 2024. I added a homeostatic-pressure law that slows growth when the pressure approaches p_h. Only the first case is a thesis result; the others are demonstrations, and no experimental data are 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verification problem of Chapter 4: a seed in the centre of the 2 mm cube. One octant is cut away. The seed stress at the end is 6.19 times 10 to the minus 4 pascal, which agrees with the thesis value to 0.2 percent. The stress forms a ring at the edge of the seed.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move the seed to a corner and to an edge and clamp the bottom face, like a substrate. The biofilm spreads along the walls, and the stress concentrates in the biofilm next to the clamped face: its mean there is ten to twelve times the seed stress of the centre case, and this mean is converged to one percent. The pointwise peak at the corner grows with the mesh, so I do not quote it; the colour scale stops at the 95th percentile.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seeds on the clamped face, a little apart. They grow into each other, and the stress is highest under each seed, at the clamped 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corner seed, with and without the homeostatic-pressure law, on one colour scale. Without the law the stress at the clamped edge reaches about 15 millipascal. With the law the growth stops where the pressure reaches p_h, and the concentration goes away. The value of p_h is chosen by 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biofilm layer on a crown-shaped collar, as around a tooth or an implant. The point model uses the four-species synthetic case of Fritsch et al. 2025 with their true parameters, so no experimental data enter. One quarter is cut away so that the layer is visible.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species three takes over the seed and species four almost disappears. On the right, the section at 45 degrees: without the law the stress reaches 0.68 times E at the bonded base; with the law the largest value is 0.12 times 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3D view reproduces the thesis value. When the seed touches a wall, the stress concentrates in the biofilm next to the fixed surface, ten to twelve times the centre value as a band mean, and the homeostatic-pressure law removes this concentration. The next step at Keio is a real tooth surface with the calibrated parameters.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03120"/>
            <a:ext cx="10332720" cy="914400"/>
          </a:xfrm>
          <a:prstGeom prst="rect">
            <a:avLst/>
          </a:prstGeom>
          <a:noFill/>
        </p:spPr>
        <p:txBody>
          <a:bodyPr wrap="square">
            <a:spAutoFit/>
          </a:bodyPr>
          <a:lstStyle/>
          <a:p>
            <a:pPr>
              <a:spcAft>
                <a:spcPts val="600"/>
              </a:spcAft>
            </a:pPr>
            <a:r>
              <a:rPr sz="4000" b="1">
                <a:solidFill>
                  <a:srgbClr val="1E50A0"/>
                </a:solidFill>
                <a:latin typeface="Times New Roman"/>
              </a:rPr>
              <a:t>Biofilm Growth and Stress in 3D</a:t>
            </a:r>
          </a:p>
        </p:txBody>
      </p:sp>
      <p:sp>
        <p:nvSpPr>
          <p:cNvPr id="3" name="TextBox 2"/>
          <p:cNvSpPr txBox="1"/>
          <p:nvPr/>
        </p:nvSpPr>
        <p:spPr>
          <a:xfrm>
            <a:off x="914400" y="3017520"/>
            <a:ext cx="10332720" cy="914400"/>
          </a:xfrm>
          <a:prstGeom prst="rect">
            <a:avLst/>
          </a:prstGeom>
          <a:noFill/>
        </p:spPr>
        <p:txBody>
          <a:bodyPr wrap="square">
            <a:spAutoFit/>
          </a:bodyPr>
          <a:lstStyle/>
          <a:p>
            <a:pPr>
              <a:spcAft>
                <a:spcPts val="600"/>
              </a:spcAft>
            </a:pPr>
            <a:r>
              <a:rPr sz="2000" b="0">
                <a:latin typeface="Times New Roman"/>
              </a:rPr>
              <a:t>Videos of the growth model: verification problem, seed position, growth law, tooth-like collar</a:t>
            </a:r>
          </a:p>
        </p:txBody>
      </p:sp>
      <p:sp>
        <p:nvSpPr>
          <p:cNvPr id="4" name="TextBox 3"/>
          <p:cNvSpPr txBox="1"/>
          <p:nvPr/>
        </p:nvSpPr>
        <p:spPr>
          <a:xfrm>
            <a:off x="914400" y="4206240"/>
            <a:ext cx="10332720" cy="1371600"/>
          </a:xfrm>
          <a:prstGeom prst="rect">
            <a:avLst/>
          </a:prstGeom>
          <a:noFill/>
        </p:spPr>
        <p:txBody>
          <a:bodyPr wrap="square">
            <a:spAutoFit/>
          </a:bodyPr>
          <a:lstStyle/>
          <a:p>
            <a:pPr>
              <a:spcAft>
                <a:spcPts val="600"/>
              </a:spcAft>
            </a:pPr>
            <a:r>
              <a:rPr sz="1800" b="0">
                <a:latin typeface="Times New Roman"/>
              </a:rPr>
              <a:t>Keisuke Nishioka</a:t>
            </a:r>
          </a:p>
          <a:p>
            <a:pPr>
              <a:spcAft>
                <a:spcPts val="600"/>
              </a:spcAft>
            </a:pPr>
            <a:r>
              <a:rPr sz="1800" b="0">
                <a:latin typeface="Times New Roman"/>
              </a:rPr>
              <a:t>Institute of Continuum Mechanics (IKM), Leibniz Universität Hannover</a:t>
            </a:r>
          </a:p>
          <a:p>
            <a:pPr>
              <a:spcAft>
                <a:spcPts val="600"/>
              </a:spcAft>
            </a:pPr>
            <a:r>
              <a:rPr sz="1800" b="0">
                <a:latin typeface="Times New Roman"/>
              </a:rPr>
              <a:t>20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What the videos show</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2</a:t>
            </a:r>
          </a:p>
        </p:txBody>
      </p:sp>
      <p:sp>
        <p:nvSpPr>
          <p:cNvPr id="5" name="TextBox 4"/>
          <p:cNvSpPr txBox="1"/>
          <p:nvPr/>
        </p:nvSpPr>
        <p:spPr>
          <a:xfrm>
            <a:off x="548640" y="1097280"/>
            <a:ext cx="11064240" cy="5303520"/>
          </a:xfrm>
          <a:prstGeom prst="rect">
            <a:avLst/>
          </a:prstGeom>
          <a:noFill/>
        </p:spPr>
        <p:txBody>
          <a:bodyPr wrap="square">
            <a:spAutoFit/>
          </a:bodyPr>
          <a:lstStyle/>
          <a:p>
            <a:pPr>
              <a:spcAft>
                <a:spcPts val="600"/>
              </a:spcAft>
            </a:pPr>
            <a:r>
              <a:rPr sz="2000" b="0">
                <a:latin typeface="Times New Roman"/>
              </a:rPr>
              <a:t>• Biofilm phase φ, growth α − 1 with F_g = α I, and the von Mises stress, in 3D over time.</a:t>
            </a:r>
          </a:p>
          <a:p>
            <a:pPr>
              <a:spcAft>
                <a:spcPts val="600"/>
              </a:spcAft>
            </a:pPr>
            <a:r>
              <a:rPr sz="2000" b="0">
                <a:latin typeface="Times New Roman"/>
              </a:rPr>
              <a:t>• Growth model of Klempt et al. (2024): dφ/dt = β∇²φ + k_α α (plus the bound on φ), dα/dt = k_α φ; stiffness E(φ² + f).</a:t>
            </a:r>
          </a:p>
          <a:p>
            <a:pPr>
              <a:spcAft>
                <a:spcPts val="600"/>
              </a:spcAft>
            </a:pPr>
            <a:r>
              <a:rPr sz="2000" b="0">
                <a:latin typeface="Times New Roman"/>
              </a:rPr>
              <a:t>• Homeostatic-pressure law (added in this work): growth is scaled by g = min(1, max(0, 1 − p/p_h)), p = −tr σ / 3.</a:t>
            </a:r>
          </a:p>
          <a:p>
            <a:pPr>
              <a:spcAft>
                <a:spcPts val="600"/>
              </a:spcAft>
            </a:pPr>
            <a:r>
              <a:rPr sz="2000" b="0">
                <a:latin typeface="Times New Roman"/>
              </a:rPr>
              <a:t>• Cases: (1) the verification problem of the thesis, seed in the centre of the 2 mm cube; (2) the seed in a corner, on an edge, or two seeds that meet; (3) the corner seed with and without the growth law; (4) a tooth-like collar with synthetic four-species data (Fritsch et al. 2025).</a:t>
            </a:r>
          </a:p>
          <a:p>
            <a:pPr>
              <a:spcAft>
                <a:spcPts val="600"/>
              </a:spcAft>
            </a:pPr>
            <a:r>
              <a:rPr sz="2000" b="0">
                <a:latin typeface="Times New Roman"/>
              </a:rPr>
              <a:t>• Only case 1 is a thesis result. Cases 2–4 are demonstrations with the same model. No experimental data are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1. Verification problem: seed in the centre of the cube</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3</a:t>
            </a:r>
          </a:p>
        </p:txBody>
      </p:sp>
      <p:pic>
        <p:nvPicPr>
          <p:cNvPr id="5" name="anim_wp3_seed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080510"/>
          </a:xfrm>
          <a:prstGeom prst="rect">
            <a:avLst/>
          </a:prstGeom>
        </p:spPr>
      </p:pic>
      <p:sp>
        <p:nvSpPr>
          <p:cNvPr id="6" name="TextBox 5"/>
          <p:cNvSpPr txBox="1"/>
          <p:nvPr/>
        </p:nvSpPr>
        <p:spPr>
          <a:xfrm>
            <a:off x="640080" y="5040630"/>
            <a:ext cx="10881360" cy="1463040"/>
          </a:xfrm>
          <a:prstGeom prst="rect">
            <a:avLst/>
          </a:prstGeom>
          <a:noFill/>
        </p:spPr>
        <p:txBody>
          <a:bodyPr wrap="square">
            <a:spAutoFit/>
          </a:bodyPr>
          <a:lstStyle/>
          <a:p>
            <a:pPr>
              <a:spcAft>
                <a:spcPts val="600"/>
              </a:spcAft>
            </a:pPr>
            <a:r>
              <a:rPr sz="1600" b="0">
                <a:latin typeface="Times New Roman"/>
              </a:rPr>
              <a:t>β = 0.02 mm²/T*, k_α = 1e−3 /T*, E = 10 Pa, ν = 0.49, T* = 1.1; one octant cut away. Field on 48³ (reference solution), stress on 16³.</a:t>
            </a:r>
          </a:p>
          <a:p>
            <a:pPr>
              <a:spcAft>
                <a:spcPts val="600"/>
              </a:spcAft>
            </a:pPr>
            <a:r>
              <a:rPr sz="1600" b="0">
                <a:latin typeface="Times New Roman"/>
              </a:rPr>
              <a:t>Seed von Mises at T* = 1.1: 6.19e−4 Pa (thesis, 16³: 6.18e−4 Pa). The stress forms a ring at the edge of the seed.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2. Seed in a corner and on an edge</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4</a:t>
            </a:r>
          </a:p>
        </p:txBody>
      </p:sp>
      <p:pic>
        <p:nvPicPr>
          <p:cNvPr id="5" name="anim_seed_corner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74320" y="1005840"/>
            <a:ext cx="5760720" cy="2160270"/>
          </a:xfrm>
          <a:prstGeom prst="rect">
            <a:avLst/>
          </a:prstGeom>
        </p:spPr>
      </p:pic>
      <p:pic>
        <p:nvPicPr>
          <p:cNvPr id="6" name="anim_seed_edge_3d.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172200" y="1005840"/>
            <a:ext cx="5760720" cy="2160270"/>
          </a:xfrm>
          <a:prstGeom prst="rect">
            <a:avLst/>
          </a:prstGeom>
        </p:spPr>
      </p:pic>
      <p:sp>
        <p:nvSpPr>
          <p:cNvPr id="7" name="TextBox 6"/>
          <p:cNvSpPr txBox="1"/>
          <p:nvPr/>
        </p:nvSpPr>
        <p:spPr>
          <a:xfrm>
            <a:off x="457200" y="3257550"/>
            <a:ext cx="11247120" cy="2286000"/>
          </a:xfrm>
          <a:prstGeom prst="rect">
            <a:avLst/>
          </a:prstGeom>
          <a:noFill/>
        </p:spPr>
        <p:txBody>
          <a:bodyPr wrap="square">
            <a:spAutoFit/>
          </a:bodyPr>
          <a:lstStyle/>
          <a:p>
            <a:pPr>
              <a:spcAft>
                <a:spcPts val="600"/>
              </a:spcAft>
            </a:pPr>
            <a:r>
              <a:rPr sz="1600" b="0">
                <a:latin typeface="Times New Roman"/>
              </a:rPr>
              <a:t>Same model and seed volume as case 1; bottom face clamped (the substrate). Left: corner (three faces), right: edge (two faces).</a:t>
            </a:r>
          </a:p>
          <a:p>
            <a:pPr>
              <a:spcAft>
                <a:spcPts val="600"/>
              </a:spcAft>
            </a:pPr>
            <a:r>
              <a:rPr sz="1600" b="0">
                <a:latin typeface="Times New Roman"/>
              </a:rPr>
              <a:t>The biofilm spreads along the walls; the stress concentrates in the biofilm next to the clamped face: the mean over its bottom quarter millimetre is 7.6 mPa (corner) and 6.4 mPa (edge), 10 to 12 times the seed stress of the centre case (0.61 mPa); these means change by less than 1 % from 24³ to 48³. The pointwise maximum sits where the clamped face meets a free wall and grows with refinement (about h^−0.4), so the colour scale stops at the 95th percentile, about 15 mPa, which does not depend on the mesh.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6"/>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2. Two seeds that grow into each other</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5</a:t>
            </a:r>
          </a:p>
        </p:txBody>
      </p:sp>
      <p:pic>
        <p:nvPicPr>
          <p:cNvPr id="5" name="anim_two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463040"/>
          </a:xfrm>
          <a:prstGeom prst="rect">
            <a:avLst/>
          </a:prstGeom>
          <a:noFill/>
        </p:spPr>
        <p:txBody>
          <a:bodyPr wrap="square">
            <a:spAutoFit/>
          </a:bodyPr>
          <a:lstStyle/>
          <a:p>
            <a:pPr>
              <a:spcAft>
                <a:spcPts val="600"/>
              </a:spcAft>
            </a:pPr>
            <a:r>
              <a:rPr sz="1600" b="0">
                <a:latin typeface="Times New Roman"/>
              </a:rPr>
              <a:t>Two seeds of 0.5 mm on the clamped bottom face, 0.125 mm apart; front half cut away. Same model as case 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3. The growth law removes the concentration</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6</a:t>
            </a:r>
          </a:p>
        </p:txBody>
      </p:sp>
      <p:pic>
        <p:nvPicPr>
          <p:cNvPr id="5" name="anim_law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463040"/>
          </a:xfrm>
          <a:prstGeom prst="rect">
            <a:avLst/>
          </a:prstGeom>
          <a:noFill/>
        </p:spPr>
        <p:txBody>
          <a:bodyPr wrap="square">
            <a:spAutoFit/>
          </a:bodyPr>
          <a:lstStyle/>
          <a:p>
            <a:pPr>
              <a:spcAft>
                <a:spcPts val="600"/>
              </a:spcAft>
            </a:pPr>
            <a:r>
              <a:rPr sz="1600" b="0">
                <a:latin typeface="Times New Roman"/>
              </a:rPr>
              <a:t>Corner seed, same colour scale in both stress panels. Without the law the stress in the biofilm next to the clamped face reaches about 15 mPa (95th percentile); with the law it stays well below. p_h = 3.3 mPa is chosen by me (0.4 times the 95th percentile of the pressure without the law), not taken from a paper.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4. Tooth-like collar with synthetic four-species data</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7</a:t>
            </a:r>
          </a:p>
        </p:txBody>
      </p:sp>
      <p:pic>
        <p:nvPicPr>
          <p:cNvPr id="5" name="anim_cervical_f4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828800"/>
          </a:xfrm>
          <a:prstGeom prst="rect">
            <a:avLst/>
          </a:prstGeom>
          <a:noFill/>
        </p:spPr>
        <p:txBody>
          <a:bodyPr wrap="square">
            <a:spAutoFit/>
          </a:bodyPr>
          <a:lstStyle/>
          <a:p>
            <a:pPr>
              <a:spcAft>
                <a:spcPts val="600"/>
              </a:spcAft>
            </a:pPr>
            <a:r>
              <a:rPr sz="1600" b="0">
                <a:latin typeface="Times New Roman"/>
              </a:rPr>
              <a:t>A 0.25 mm biofilm layer on a crown-shaped collar (radius 2.05 to 3.05 mm, 2 mm high), inner face bonded, nutrient from the outside. Point model: the four-species case of Fritsch et al. (2025) with their true parameters (synthetic, no experimental data). One quarter cut away; displacement up to 0.31 mm, drawn at true scale.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4. Section and composition</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8</a:t>
            </a:r>
          </a:p>
        </p:txBody>
      </p:sp>
      <p:pic>
        <p:nvPicPr>
          <p:cNvPr id="5" name="Picture 4" descr="fig_cervical_f4.png"/>
          <p:cNvPicPr>
            <a:picLocks noChangeAspect="1"/>
          </p:cNvPicPr>
          <p:nvPr/>
        </p:nvPicPr>
        <p:blipFill>
          <a:blip r:embed="rId2"/>
          <a:stretch>
            <a:fillRect/>
          </a:stretch>
        </p:blipFill>
        <p:spPr>
          <a:xfrm>
            <a:off x="1280160" y="914400"/>
            <a:ext cx="9601200" cy="4251434"/>
          </a:xfrm>
          <a:prstGeom prst="rect">
            <a:avLst/>
          </a:prstGeom>
        </p:spPr>
      </p:pic>
      <p:sp>
        <p:nvSpPr>
          <p:cNvPr id="6" name="TextBox 5"/>
          <p:cNvSpPr txBox="1"/>
          <p:nvPr/>
        </p:nvSpPr>
        <p:spPr>
          <a:xfrm>
            <a:off x="640080" y="5120640"/>
            <a:ext cx="10881360" cy="1463040"/>
          </a:xfrm>
          <a:prstGeom prst="rect">
            <a:avLst/>
          </a:prstGeom>
          <a:noFill/>
        </p:spPr>
        <p:txBody>
          <a:bodyPr wrap="square">
            <a:spAutoFit/>
          </a:bodyPr>
          <a:lstStyle/>
          <a:p>
            <a:pPr>
              <a:spcAft>
                <a:spcPts val="600"/>
              </a:spcAft>
            </a:pPr>
            <a:r>
              <a:rPr sz="1600" b="0">
                <a:latin typeface="Times New Roman"/>
              </a:rPr>
              <a:t>(a) Species 3 takes over the seed (share 0.47 at the end), species 4 almost disappears (0.02).</a:t>
            </a:r>
          </a:p>
          <a:p>
            <a:pPr>
              <a:spcAft>
                <a:spcPts val="600"/>
              </a:spcAft>
            </a:pPr>
            <a:r>
              <a:rPr sz="1600" b="0">
                <a:latin typeface="Times New Roman"/>
              </a:rPr>
              <a:t>(b), (c) Section at 45°: without the law the von Mises stress reaches 0.68 E at the bonded base; with p_h/E = 0.05 the largest value is 0.12 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Summary</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9</a:t>
            </a:r>
          </a:p>
        </p:txBody>
      </p:sp>
      <p:sp>
        <p:nvSpPr>
          <p:cNvPr id="5" name="TextBox 4"/>
          <p:cNvSpPr txBox="1"/>
          <p:nvPr/>
        </p:nvSpPr>
        <p:spPr>
          <a:xfrm>
            <a:off x="548640" y="1188720"/>
            <a:ext cx="11064240" cy="5120640"/>
          </a:xfrm>
          <a:prstGeom prst="rect">
            <a:avLst/>
          </a:prstGeom>
          <a:noFill/>
        </p:spPr>
        <p:txBody>
          <a:bodyPr wrap="square">
            <a:spAutoFit/>
          </a:bodyPr>
          <a:lstStyle/>
          <a:p>
            <a:pPr>
              <a:spcAft>
                <a:spcPts val="600"/>
              </a:spcAft>
            </a:pPr>
            <a:r>
              <a:rPr sz="2000" b="0">
                <a:latin typeface="Times New Roman"/>
              </a:rPr>
              <a:t>• Case 1 reproduces the thesis value of the seed stress (0.2 % difference) and shows it in 3D.</a:t>
            </a:r>
          </a:p>
          <a:p>
            <a:pPr>
              <a:spcAft>
                <a:spcPts val="600"/>
              </a:spcAft>
            </a:pPr>
            <a:r>
              <a:rPr sz="2000" b="0">
                <a:latin typeface="Times New Roman"/>
              </a:rPr>
              <a:t>• Moving the seed to a wall breaks the symmetry; the stress then concentrates in the biofilm next to the fixed surface, 10 to 12 times the seed stress of the centre case (band mean, converged to 1 %; the pointwise maximum is mesh-dependent and is not quoted).</a:t>
            </a:r>
          </a:p>
          <a:p>
            <a:pPr>
              <a:spcAft>
                <a:spcPts val="600"/>
              </a:spcAft>
            </a:pPr>
            <a:r>
              <a:rPr sz="2000" b="0">
                <a:latin typeface="Times New Roman"/>
              </a:rPr>
              <a:t>• The homeostatic-pressure law removes this concentration, in the cube and on the tooth-like collar (0.68 to 0.12 times E).</a:t>
            </a:r>
          </a:p>
          <a:p>
            <a:pPr>
              <a:spcAft>
                <a:spcPts val="600"/>
              </a:spcAft>
            </a:pPr>
            <a:r>
              <a:rPr sz="2000" b="0">
                <a:latin typeface="Times New Roman"/>
              </a:rPr>
              <a:t>• Synthetic data only (Fritsch et al. 2025) keep the demonstration independent of the calibration.</a:t>
            </a:r>
          </a:p>
          <a:p>
            <a:pPr>
              <a:spcAft>
                <a:spcPts val="600"/>
              </a:spcAft>
            </a:pPr>
            <a:r>
              <a:rPr sz="2000" b="0">
                <a:latin typeface="Times New Roman"/>
              </a:rPr>
              <a:t>• Next: a real tooth or implant surface, and the calibrated parameters of Chapter 3 at Keio.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