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77b8b21-25d8-6fd7-7786-f5751d40472f}">
          <p14:sldIdLst>
            <p14:sldId id="256"/>
            <p14:sldId id="257"/>
          </p14:sldIdLst>
        </p14:section>
        <p14:section name="Model" id="{68fbb24d-5be8-d45a-b2d7-ab413f1e3522}">
          <p14:sldIdLst>
            <p14:sldId id="258"/>
          </p14:sldIdLst>
        </p14:section>
        <p14:section name="Examples" id="{090c3bf6-9079-eb52-035a-9096e976abca}">
          <p14:sldIdLst>
            <p14:sldId id="259"/>
            <p14:sldId id="260"/>
            <p14:sldId id="261"/>
          </p14:sldIdLst>
        </p14:section>
        <p14:section name="Numerics" id="{2132051d-551d-f64f-02af-2f0ec3d88fd5}">
          <p14:sldIdLst>
            <p14:sldId id="262"/>
            <p14:sldId id="263"/>
            <p14:sldId id="264"/>
          </p14:sldIdLst>
        </p14:section>
        <p14:section name="Geometry" id="{a7339db5-8dc6-fb29-b57b-28618914c1fc}">
          <p14:sldIdLst>
            <p14:sldId id="265"/>
            <p14:sldId id="266"/>
          </p14:sldIdLst>
        </p14:section>
        <p14:section name="Next" id="{7480b843-ddbf-dd0d-069b-4c48fa0f331c}">
          <p14:sldIdLst>
            <p14:sldId id="267"/>
            <p14:sldId id="268"/>
          </p14:sldIdLst>
        </p14:section>
        <p14:section name="Appendix" id="{a97be67d-76ff-58d4-2084-c34734122762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2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2F"/>
                </a:solidFill>
                <a:latin typeface="+mn-lt"/>
              </a:rPr>
              <a:t>Seed α − 1 [1e−4]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Python, TVD</c:v>
                </c:pt>
              </c:strCache>
            </c:strRef>
          </c:tx>
          <c:spPr>
            <a:solidFill>
              <a:srgbClr val="2E7D6B"/>
            </a:solidFill>
            <a:ln w="25400" cap="flat">
              <a:solidFill>
                <a:srgbClr val="2E7D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7D6B"/>
              </a:solidFill>
              <a:ln w="9525" cap="flat">
                <a:solidFill>
                  <a:srgbClr val="2E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16³</c:v>
                  </c:pt>
                  <c:pt idx="1">
                    <c:v>24³</c:v>
                  </c:pt>
                  <c:pt idx="2">
                    <c:v>32³</c:v>
                  </c:pt>
                  <c:pt idx="3">
                    <c:v>48³</c:v>
                  </c:pt>
                  <c:pt idx="4">
                    <c:v>64³</c:v>
                  </c:pt>
                  <c:pt idx="5">
                    <c:v>128³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8.25</c:v>
                </c:pt>
                <c:pt idx="1">
                  <c:v/>
                </c:pt>
                <c:pt idx="2">
                  <c:v>8.82</c:v>
                </c:pt>
                <c:pt idx="3">
                  <c:v/>
                </c:pt>
                <c:pt idx="4">
                  <c:v>9.17</c:v>
                </c:pt>
                <c:pt idx="5">
                  <c:v>9.33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Python, LW + sensor</c:v>
                </c:pt>
              </c:strCache>
            </c:strRef>
          </c:tx>
          <c:spPr>
            <a:solidFill>
              <a:srgbClr val="D9952A"/>
            </a:solidFill>
            <a:ln w="25400" cap="flat">
              <a:solidFill>
                <a:srgbClr val="D995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952A"/>
              </a:solidFill>
              <a:ln w="9525" cap="flat">
                <a:solidFill>
                  <a:srgbClr val="D995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16³</c:v>
                  </c:pt>
                  <c:pt idx="1">
                    <c:v>24³</c:v>
                  </c:pt>
                  <c:pt idx="2">
                    <c:v>32³</c:v>
                  </c:pt>
                  <c:pt idx="3">
                    <c:v>48³</c:v>
                  </c:pt>
                  <c:pt idx="4">
                    <c:v>64³</c:v>
                  </c:pt>
                  <c:pt idx="5">
                    <c:v>128³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7.95</c:v>
                </c:pt>
                <c:pt idx="1">
                  <c:v>8.52</c:v>
                </c:pt>
                <c:pt idx="2">
                  <c:v>8.8</c:v>
                </c:pt>
                <c:pt idx="3">
                  <c:v>9.08</c:v>
                </c:pt>
                <c:pt idx="4">
                  <c:v>9.21</c:v>
                </c:pt>
                <c:pt idx="5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Python, r h/4</c:v>
                </c:pt>
              </c:strCache>
            </c:strRef>
          </c:tx>
          <c:spPr>
            <a:solidFill>
              <a:srgbClr val="7F8C8D"/>
            </a:solidFill>
            <a:ln w="25400" cap="flat">
              <a:solidFill>
                <a:srgbClr val="7F8C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7F8C8D"/>
              </a:solidFill>
              <a:ln w="9525" cap="flat">
                <a:solidFill>
                  <a:srgbClr val="7F8C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16³</c:v>
                  </c:pt>
                  <c:pt idx="1">
                    <c:v>24³</c:v>
                  </c:pt>
                  <c:pt idx="2">
                    <c:v>32³</c:v>
                  </c:pt>
                  <c:pt idx="3">
                    <c:v>48³</c:v>
                  </c:pt>
                  <c:pt idx="4">
                    <c:v>64³</c:v>
                  </c:pt>
                  <c:pt idx="5">
                    <c:v>128³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6.27</c:v>
                </c:pt>
                <c:pt idx="1">
                  <c:v>7.26</c:v>
                </c:pt>
                <c:pt idx="2">
                  <c:v>7.72</c:v>
                </c:pt>
                <c:pt idx="3">
                  <c:v>8.2</c:v>
                </c:pt>
                <c:pt idx="4">
                  <c:v>8.43</c:v>
                </c:pt>
                <c:pt idx="5">
                  <c:v/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Element, LW + sensor</c:v>
                </c:pt>
              </c:strCache>
            </c:strRef>
          </c:tx>
          <c:spPr>
            <a:solidFill>
              <a:srgbClr val="B5473A"/>
            </a:solidFill>
            <a:ln w="25400" cap="flat">
              <a:solidFill>
                <a:srgbClr val="B547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5473A"/>
              </a:solidFill>
              <a:ln w="9525" cap="flat">
                <a:solidFill>
                  <a:srgbClr val="B547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16³</c:v>
                  </c:pt>
                  <c:pt idx="1">
                    <c:v>24³</c:v>
                  </c:pt>
                  <c:pt idx="2">
                    <c:v>32³</c:v>
                  </c:pt>
                  <c:pt idx="3">
                    <c:v>48³</c:v>
                  </c:pt>
                  <c:pt idx="4">
                    <c:v>64³</c:v>
                  </c:pt>
                  <c:pt idx="5">
                    <c:v>128³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8.19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Element, r h/4</c:v>
                </c:pt>
              </c:strCache>
            </c:strRef>
          </c:tx>
          <c:spPr>
            <a:solidFill>
              <a:srgbClr val="3F6EA5"/>
            </a:solidFill>
            <a:ln w="25400" cap="flat">
              <a:solidFill>
                <a:srgbClr val="3F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F6EA5"/>
              </a:solidFill>
              <a:ln w="9525" cap="flat">
                <a:solidFill>
                  <a:srgbClr val="3F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16³</c:v>
                  </c:pt>
                  <c:pt idx="1">
                    <c:v>24³</c:v>
                  </c:pt>
                  <c:pt idx="2">
                    <c:v>32³</c:v>
                  </c:pt>
                  <c:pt idx="3">
                    <c:v>48³</c:v>
                  </c:pt>
                  <c:pt idx="4">
                    <c:v>64³</c:v>
                  </c:pt>
                  <c:pt idx="5">
                    <c:v>128³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5.73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5"/>
        </c:scaling>
        <c:delete val="0"/>
        <c:axPos val="l"/>
        <c:majorGridlines>
          <c:spPr>
            <a:ln w="6350" cap="flat">
              <a:solidFill>
                <a:srgbClr val="D5DE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2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2F"/>
                </a:solidFill>
                <a:latin typeface="+mn-lt"/>
              </a:rPr>
              <a:t>Seed von Mises [1e−4 Pa]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Python, TVD</c:v>
                </c:pt>
              </c:strCache>
            </c:strRef>
          </c:tx>
          <c:spPr>
            <a:solidFill>
              <a:srgbClr val="2E7D6B"/>
            </a:solidFill>
            <a:ln w="25400" cap="flat">
              <a:solidFill>
                <a:srgbClr val="2E7D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7D6B"/>
              </a:solidFill>
              <a:ln w="9525" cap="flat">
                <a:solidFill>
                  <a:srgbClr val="2E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16³</c:v>
                  </c:pt>
                  <c:pt idx="1">
                    <c:v>24³</c:v>
                  </c:pt>
                  <c:pt idx="2">
                    <c:v>32³</c:v>
                  </c:pt>
                  <c:pt idx="3">
                    <c:v>48³</c:v>
                  </c:pt>
                  <c:pt idx="4">
                    <c:v>64³</c:v>
                  </c:pt>
                  <c:pt idx="5">
                    <c:v>128³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6.51</c:v>
                </c:pt>
                <c:pt idx="1">
                  <c:v/>
                </c:pt>
                <c:pt idx="2">
                  <c:v>5.9</c:v>
                </c:pt>
                <c:pt idx="3">
                  <c:v/>
                </c:pt>
                <c:pt idx="4">
                  <c:v>5.98</c:v>
                </c:pt>
                <c:pt idx="5">
                  <c:v>6.05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Python, LW + sensor</c:v>
                </c:pt>
              </c:strCache>
            </c:strRef>
          </c:tx>
          <c:spPr>
            <a:solidFill>
              <a:srgbClr val="D9952A"/>
            </a:solidFill>
            <a:ln w="25400" cap="flat">
              <a:solidFill>
                <a:srgbClr val="D995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952A"/>
              </a:solidFill>
              <a:ln w="9525" cap="flat">
                <a:solidFill>
                  <a:srgbClr val="D995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16³</c:v>
                  </c:pt>
                  <c:pt idx="1">
                    <c:v>24³</c:v>
                  </c:pt>
                  <c:pt idx="2">
                    <c:v>32³</c:v>
                  </c:pt>
                  <c:pt idx="3">
                    <c:v>48³</c:v>
                  </c:pt>
                  <c:pt idx="4">
                    <c:v>64³</c:v>
                  </c:pt>
                  <c:pt idx="5">
                    <c:v>128³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4.2</c:v>
                </c:pt>
                <c:pt idx="1">
                  <c:v>5.31</c:v>
                </c:pt>
                <c:pt idx="2">
                  <c:v>5.85</c:v>
                </c:pt>
                <c:pt idx="3">
                  <c:v>6.28</c:v>
                </c:pt>
                <c:pt idx="4">
                  <c:v>6.26</c:v>
                </c:pt>
                <c:pt idx="5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Python, r h/4</c:v>
                </c:pt>
              </c:strCache>
            </c:strRef>
          </c:tx>
          <c:spPr>
            <a:solidFill>
              <a:srgbClr val="7F8C8D"/>
            </a:solidFill>
            <a:ln w="25400" cap="flat">
              <a:solidFill>
                <a:srgbClr val="7F8C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7F8C8D"/>
              </a:solidFill>
              <a:ln w="9525" cap="flat">
                <a:solidFill>
                  <a:srgbClr val="7F8C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16³</c:v>
                  </c:pt>
                  <c:pt idx="1">
                    <c:v>24³</c:v>
                  </c:pt>
                  <c:pt idx="2">
                    <c:v>32³</c:v>
                  </c:pt>
                  <c:pt idx="3">
                    <c:v>48³</c:v>
                  </c:pt>
                  <c:pt idx="4">
                    <c:v>64³</c:v>
                  </c:pt>
                  <c:pt idx="5">
                    <c:v>128³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1.73</c:v>
                </c:pt>
                <c:pt idx="1">
                  <c:v>2.78</c:v>
                </c:pt>
                <c:pt idx="2">
                  <c:v>3.4</c:v>
                </c:pt>
                <c:pt idx="3">
                  <c:v>4.29</c:v>
                </c:pt>
                <c:pt idx="4">
                  <c:v>4.8</c:v>
                </c:pt>
                <c:pt idx="5">
                  <c:v/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Element, LW + sensor</c:v>
                </c:pt>
              </c:strCache>
            </c:strRef>
          </c:tx>
          <c:spPr>
            <a:solidFill>
              <a:srgbClr val="B5473A"/>
            </a:solidFill>
            <a:ln w="25400" cap="flat">
              <a:solidFill>
                <a:srgbClr val="B547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5473A"/>
              </a:solidFill>
              <a:ln w="9525" cap="flat">
                <a:solidFill>
                  <a:srgbClr val="B547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16³</c:v>
                  </c:pt>
                  <c:pt idx="1">
                    <c:v>24³</c:v>
                  </c:pt>
                  <c:pt idx="2">
                    <c:v>32³</c:v>
                  </c:pt>
                  <c:pt idx="3">
                    <c:v>48³</c:v>
                  </c:pt>
                  <c:pt idx="4">
                    <c:v>64³</c:v>
                  </c:pt>
                  <c:pt idx="5">
                    <c:v>128³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4.2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Element, r h/4</c:v>
                </c:pt>
              </c:strCache>
            </c:strRef>
          </c:tx>
          <c:spPr>
            <a:solidFill>
              <a:srgbClr val="3F6EA5"/>
            </a:solidFill>
            <a:ln w="25400" cap="flat">
              <a:solidFill>
                <a:srgbClr val="3F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F6EA5"/>
              </a:solidFill>
              <a:ln w="9525" cap="flat">
                <a:solidFill>
                  <a:srgbClr val="3F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16³</c:v>
                  </c:pt>
                  <c:pt idx="1">
                    <c:v>24³</c:v>
                  </c:pt>
                  <c:pt idx="2">
                    <c:v>32³</c:v>
                  </c:pt>
                  <c:pt idx="3">
                    <c:v>48³</c:v>
                  </c:pt>
                  <c:pt idx="4">
                    <c:v>64³</c:v>
                  </c:pt>
                  <c:pt idx="5">
                    <c:v>128³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1.33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D5DE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messages: the coupling is in the element as agreed; the composition results are robust; the front term is the numerical difficulty; with a proper scheme the stress converges.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Fields to point model: c* = c*_0 c and alpha* = alpha*_0 a, linear in time over the inner steps. Point model to fields: the living volume fraction sum_i phibar_i scales the consumption of c and a. Eq. 36 is unchanged, so the composition reaches the stress through the nutrient field and the front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Python, 64-cube grid, one eighth cut away. Panels as in the caption band of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set-up, mixed start with equal amounts (Oliver's suggestion).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 three changes Eqs. 34 to 36. Klempt 2024 does not state a stabilisation; on its own mesh the cell Peclet number is about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Checks that passed: every traced point-model step in the element equals the point model alone to 1.8e-12; the transient nutrient equation with the Table 2 diffusivity equals the quasi-static one to 1e-4; the time step 0.00125 is converged to about 1 %.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3200400" y="2331720"/>
            <a:ext cx="27432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514600"/>
            <a:ext cx="76809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Shape 0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K. Nishioka, Coupling the point model to the growth field,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Coupling the multi-species point model to the growth field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2514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Progress report for Oliver and Dr. Soleimani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Keisuke Nishioka, IKM, Leibniz Universität Hannover,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Where the coupling stands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Implemented as agreed in your element: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point model (Klempt et al. 2026) runs at every Gauss point as published, consumption by the living biomass Σᵢ φ̄ᵢ, antibiotic in the second nutrient field. A Python version solves the same equations.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Composition is robust: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Σᵢ φ̄ᵢ, the shares and c agree between the two codes and change by less than 1 % from 16³ to 128³.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The front term −r c/(k+c) n_c·∇φ of Eq. 34 needs care: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at the paper's r the cell Péclet number is about 31 on 16³, so a central gradient oscillates.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Stress converges with a second-order scheme: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seed von Mises stress 6.2 × 10⁻⁴ Pa (separate example, from 32³ on).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coupling agreed on 20 October</a:t>
            </a:r>
            <a:endParaRPr lang="en-US" sz="2400" dirty="0"/>
          </a:p>
        </p:txBody>
      </p:sp>
      <p:pic>
        <p:nvPicPr>
          <p:cNvPr id="3" name="coupling schematic" descr="Schematic: 3D fields pass c* and alpha* to the point model, which returns the living volume f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7498080" cy="2959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4434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Figure 1: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Agreed coupling: the 3D fields of Klempt et al. (2024) pass c* and α* to the point model of Klempt et al. (2026) at each Gauss point, which returns Σᵢ φ̄ᵢ for the consumption in Eq. 35.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Separate example with antibiotic</a:t>
            </a:r>
            <a:endParaRPr lang="en-US" sz="2400" dirty="0"/>
          </a:p>
        </p:txBody>
      </p:sp>
      <p:pic>
        <p:nvPicPr>
          <p:cNvPr id="3" name="video Separate example with antibiotic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88720" y="896112"/>
            <a:ext cx="6766560" cy="26220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53644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Figure 2: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Separate start, T* = 0 to 1 (video): (a) φ₁/(φ₁ + φ₂), (b) Σᵢ φ̄ᵢ, (c) c, (d) a. Python, 64³.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38194"/>
            <a:ext cx="8229600" cy="82524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(point-model species 1) in the seed, B (species 2) in four blocks at the z edges; nutrient from the bottom, antibiotic from all outer faces from T* = 1/3 (α*₀ = 100)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Newly reached cells take the composition of the biofilm they grow from; the antibiotic kills B and, where the nutrient is low, 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Mixed example with antibiotic</a:t>
            </a:r>
            <a:endParaRPr lang="en-US" sz="2400" dirty="0"/>
          </a:p>
        </p:txBody>
      </p:sp>
      <p:pic>
        <p:nvPicPr>
          <p:cNvPr id="3" name="video Mixed example with antibiotic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88720" y="896112"/>
            <a:ext cx="6766560" cy="26220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53644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Figure 3: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Mixed start, T* = 0 to 1 (video): panels as in Figure 2. Python, 64³.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38194"/>
            <a:ext cx="8229600" cy="82524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and B start together in the seed with equal amounts; same nutrient and antibiotic as before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antibiotic acts where c* = c*₀ c falls below α* bᵢ: the nutrient field decides where it kills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Five examples on the finest grid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Table 1: </a:t>
            </a:r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Seed means at T* = 1 (Python, 128³, TVD front term).</a:t>
            </a:r>
            <a:endParaRPr lang="en-US" sz="1000" dirty="0"/>
          </a:p>
        </p:txBody>
      </p:sp>
      <p:graphicFrame>
        <p:nvGraphicFramePr>
          <p:cNvPr id="7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1051560"/>
                <a:gridCol w="1051560"/>
                <a:gridCol w="109728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Σᵢ φ̄ᵢ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share of 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nutrient 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α − 1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von Mises [Pa]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Separate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0.965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0.539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9.32e−4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6.18e−4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Separate, antibiotic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0.147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0.951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9.33e−4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6.05e−4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Mixed, equal amounts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0.960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0.848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0.578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9.07e−4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4.87e−4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Mixed, equal amounts, antibiotic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0.038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9.05e−4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4.26e−4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Mixed (0.25, 0.30), antibiotic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0.037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9.04e−4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4.29e−4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Constants: Klempt et al. (2024), Table 2, converted; Fritsch et al. (2025), case I; α*₀ = 100 from T* = 1/3 (Klempt et al. 2026, case 4).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antibiotic lowers the living fraction of the seed from 0.965 to 0.147 (separate) and from 0.960 to 0.038 (mixed)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α − 1 hardly changes between examples (Eq. 36 is unchanged): the composition reaches the stress through c and the front term −r c/(k+c) n_c·∇φ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front term −r c/(k+c) n_c·∇φ is an advection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 = r h / (2β) ≈ 31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16³ (r = 10 mm/T*, β = 0.02 mm²/T*). With a central gradient φ oscillates and the element stops after two increments; a smaller time step does not help.</a:t>
            </a:r>
            <a:endParaRPr lang="en-US" sz="2200" dirty="0"/>
          </a:p>
        </p:txBody>
      </p:sp>
      <p:sp>
        <p:nvSpPr>
          <p:cNvPr id="4" name="card Constant added diffusion r h/4"/>
          <p:cNvSpPr/>
          <p:nvPr/>
        </p:nvSpPr>
        <p:spPr>
          <a:xfrm>
            <a:off x="4023360" y="960120"/>
            <a:ext cx="4663440" cy="1097280"/>
          </a:xfrm>
          <a:prstGeom prst="rect">
            <a:avLst/>
          </a:prstGeom>
          <a:solidFill>
            <a:schemeClr val="bg2"/>
          </a:solidFill>
          <a:ln w="6350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06240" y="10972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Constant added diffusion r h/4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426464"/>
            <a:ext cx="4297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First order. Stable in the element, but the stress at 16³ is about a quarter of the converged value.</a:t>
            </a:r>
            <a:endParaRPr lang="en-US" sz="1200" dirty="0"/>
          </a:p>
        </p:txBody>
      </p:sp>
      <p:sp>
        <p:nvSpPr>
          <p:cNvPr id="7" name="card Lax–Wendroff with an extremum sensor"/>
          <p:cNvSpPr/>
          <p:nvPr/>
        </p:nvSpPr>
        <p:spPr>
          <a:xfrm>
            <a:off x="4023360" y="2194560"/>
            <a:ext cx="4663440" cy="1097280"/>
          </a:xfrm>
          <a:prstGeom prst="rect">
            <a:avLst/>
          </a:prstGeom>
          <a:solidFill>
            <a:schemeClr val="bg2"/>
          </a:solidFill>
          <a:ln w="6350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06240" y="23317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Lax–Wendroff with an extremum sensor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660904"/>
            <a:ext cx="4297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Used in the element: second order away from extrema, φ stays in [0, 1]; on 16³ it matches Python with the same form.</a:t>
            </a:r>
            <a:endParaRPr lang="en-US" sz="1200" dirty="0"/>
          </a:p>
        </p:txBody>
      </p:sp>
      <p:sp>
        <p:nvSpPr>
          <p:cNvPr id="10" name="card TVD upwinding (MUSCL, minmod)"/>
          <p:cNvSpPr/>
          <p:nvPr/>
        </p:nvSpPr>
        <p:spPr>
          <a:xfrm>
            <a:off x="4023360" y="3429000"/>
            <a:ext cx="4663440" cy="1097280"/>
          </a:xfrm>
          <a:prstGeom prst="rect">
            <a:avLst/>
          </a:prstGeom>
          <a:solidFill>
            <a:schemeClr val="bg2"/>
          </a:solidFill>
          <a:ln w="6350">
            <a:solidFill>
              <a:srgbClr val="C9CE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3566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TVD upwinding (MUSCL, minmod)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895344"/>
            <a:ext cx="4297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Used in Python for the main results; converged from 64³ 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Grid convergence: stress needs a second-order scheme</a:t>
            </a:r>
            <a:endParaRPr lang="en-US" sz="2400" dirty="0"/>
          </a:p>
        </p:txBody>
      </p:sp>
      <p:graphicFrame>
        <p:nvGraphicFramePr>
          <p:cNvPr id="3" name="chart alpha" descr=""/>
          <p:cNvGraphicFramePr/>
          <p:nvPr/>
        </p:nvGraphicFramePr>
        <p:xfrm>
          <a:off x="457200" y="914400"/>
          <a:ext cx="40233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stress" descr=""/>
          <p:cNvGraphicFramePr/>
          <p:nvPr/>
        </p:nvGraphicFramePr>
        <p:xfrm>
          <a:off x="4663440" y="914400"/>
          <a:ext cx="40233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Figure 4: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Seed means of the separate example with antibiotic at T* = 1 against the grid (h = 2 mm / n). Element: your element with the agreed coupling (ANSYS), 16³ so far.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the comparison found in the element and in Python</a:t>
            </a:r>
            <a:endParaRPr lang="en-US" sz="2400" dirty="0"/>
          </a:p>
        </p:txBody>
      </p:sp>
      <p:sp>
        <p:nvSpPr>
          <p:cNvPr id="3" name="card Surface points of the element"/>
          <p:cNvSpPr/>
          <p:nvPr/>
        </p:nvSpPr>
        <p:spPr>
          <a:xfrm>
            <a:off x="457200" y="960120"/>
            <a:ext cx="4023360" cy="1691640"/>
          </a:xfrm>
          <a:prstGeom prst="rect">
            <a:avLst/>
          </a:prstGeom>
          <a:solidFill>
            <a:schemeClr val="bg2"/>
          </a:solidFill>
          <a:ln w="6350">
            <a:solidFill>
              <a:srgbClr val="C9CE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Surface points of the element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26464"/>
            <a:ext cx="3657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φ at the surface points was an inverse-distance mean that also took inner points; at a wall with φ = 1 it came out low and φ leaked through the wall. Taking the nearest Gauss point reduced the leak to a quarter.</a:t>
            </a:r>
            <a:endParaRPr lang="en-US" sz="1200" dirty="0"/>
          </a:p>
        </p:txBody>
      </p:sp>
      <p:sp>
        <p:nvSpPr>
          <p:cNvPr id="6" name="card Column sums of the NEM Laplacian"/>
          <p:cNvSpPr/>
          <p:nvPr/>
        </p:nvSpPr>
        <p:spPr>
          <a:xfrm>
            <a:off x="4663440" y="960120"/>
            <a:ext cx="4023360" cy="1691640"/>
          </a:xfrm>
          <a:prstGeom prst="rect">
            <a:avLst/>
          </a:prstGeom>
          <a:solidFill>
            <a:schemeClr val="bg2"/>
          </a:solidFill>
          <a:ln w="6350">
            <a:solidFill>
              <a:srgbClr val="C9CE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Column sums of the NEM Laplacian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26464"/>
            <a:ext cx="3657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rows sum to zero, the columns do not, so the operator does not conserve φ with equal weights. A conservative form removes the rest of the leak.</a:t>
            </a:r>
            <a:endParaRPr lang="en-US" sz="1200" dirty="0"/>
          </a:p>
        </p:txBody>
      </p:sp>
      <p:sp>
        <p:nvSpPr>
          <p:cNvPr id="9" name="card Neighbour selection"/>
          <p:cNvSpPr/>
          <p:nvPr/>
        </p:nvSpPr>
        <p:spPr>
          <a:xfrm>
            <a:off x="457200" y="2788920"/>
            <a:ext cx="4023360" cy="1691640"/>
          </a:xfrm>
          <a:prstGeom prst="rect">
            <a:avLst/>
          </a:prstGeom>
          <a:solidFill>
            <a:schemeClr val="bg2"/>
          </a:solidFill>
          <a:ln w="6350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Neighbour selection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55264"/>
            <a:ext cx="3657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search keeps the first 30 points in element order; on 16³ and 24³ the stencils became asymmetric inside the domain. Selecting by distance makes them symmetric to 1e−15.</a:t>
            </a:r>
            <a:endParaRPr lang="en-US" sz="1200" dirty="0"/>
          </a:p>
        </p:txBody>
      </p:sp>
      <p:sp>
        <p:nvSpPr>
          <p:cNvPr id="12" name="card Python wall gradient"/>
          <p:cNvSpPr/>
          <p:nvPr/>
        </p:nvSpPr>
        <p:spPr>
          <a:xfrm>
            <a:off x="4663440" y="2788920"/>
            <a:ext cx="4023360" cy="1691640"/>
          </a:xfrm>
          <a:prstGeom prst="rect">
            <a:avLst/>
          </a:prstGeom>
          <a:solidFill>
            <a:schemeClr val="bg2"/>
          </a:solidFill>
          <a:ln w="6350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Python wall gradient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55264"/>
            <a:ext cx="3657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My Python version took a one-sided gradient in the wall cells for the front term −r c/(k+c) n_c·∇φ; corrected to the zero-flux mirror. After both corrections the codes agree on 8³ within 1 to 5 %.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Growth around rigid bars (Klempt 2024, Sect. 4.3)</a:t>
            </a:r>
            <a:endParaRPr lang="en-US" sz="2400" dirty="0"/>
          </a:p>
        </p:txBody>
      </p:sp>
      <p:pic>
        <p:nvPicPr>
          <p:cNvPr id="3" name="obstacle 3D" descr="Surfaces phi = 0.5 around four bars at three times, separate and mixed 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669280" cy="32209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81117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Figure 5: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φ</a:t>
            </a:r>
            <a:pPr indent="0" marL="0">
              <a:buNone/>
            </a:pPr>
            <a:r>
              <a:rPr lang="en-US" sz="1000" baseline="-40000" dirty="0">
                <a:solidFill>
                  <a:schemeClr val="tx1"/>
                </a:solidFill>
              </a:rPr>
              <a:t>3D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≥ 0.5 around four rigid bars, separate (top) and mixed (bottom) start; set-up after Klempt et al. (2024), Fig. 9.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960120"/>
            <a:ext cx="23774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Four bars after Fig. 9 of the paper (positions read off the sketch), no biofilm or nutrient inside, frictionless contact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biofilm grows around the bars and closes behind them, as in Fig. 10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bars restrain the swelling: seed stress about ten times higher than without bars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maze of Fig. 11 with the coupling</a:t>
            </a:r>
            <a:endParaRPr lang="en-US" sz="2400" dirty="0"/>
          </a:p>
        </p:txBody>
      </p:sp>
      <p:pic>
        <p:nvPicPr>
          <p:cNvPr id="3" name="maze" descr="phi_3D in the maze at four times, without and with antibio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896112"/>
            <a:ext cx="5486400" cy="29025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83519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Figure 6: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φ</a:t>
            </a:r>
            <a:pPr indent="0" marL="0">
              <a:buNone/>
            </a:pPr>
            <a:r>
              <a:rPr lang="en-US" sz="1000" baseline="-40000" dirty="0">
                <a:solidFill>
                  <a:schemeClr val="tx1"/>
                </a:solidFill>
              </a:rPr>
              <a:t>3D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in the maze of Klempt et al. (2024), Fig. 11 (560 µm across, 2D, h = 4 µm, Table 6 constants), without (a) and with (b) antibiotic held at the entrance from T* = 20. Nutrient held in the centre (red), colony at the entrance (top).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198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biofilm follows the corridors, also into dead ends, and comes within about 40 µm of the source by T* = 60; with the antibiotic it stays about 130 µm away.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Questions and next steps</a:t>
            </a:r>
            <a:endParaRPr lang="en-US" sz="2400" dirty="0"/>
          </a:p>
        </p:txBody>
      </p:sp>
      <p:sp>
        <p:nvSpPr>
          <p:cNvPr id="3" name="card Questions for you"/>
          <p:cNvSpPr/>
          <p:nvPr/>
        </p:nvSpPr>
        <p:spPr>
          <a:xfrm>
            <a:off x="457200" y="960120"/>
            <a:ext cx="4023360" cy="3520440"/>
          </a:xfrm>
          <a:prstGeom prst="rect">
            <a:avLst/>
          </a:prstGeom>
          <a:solidFill>
            <a:schemeClr val="bg2"/>
          </a:solidFill>
          <a:ln w="6350">
            <a:solidFill>
              <a:srgbClr val="C9CE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Questions for you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26464"/>
            <a:ext cx="365760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1. How was the front term −r c/(k+c) n_c·∇φ stabilised in the runs of Klempt 2024? The cell Péclet number is about 25 on the paper's mesh.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 Can I keep the three element fixes (nearest Gauss point at the surface, conservative Laplacian, neighbours by distance)?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3. Is a stabilised front term acceptable in the thesis, stated as a numerical treatment of Eq. 34?</a:t>
            </a:r>
            <a:endParaRPr lang="en-US" sz="1200" dirty="0"/>
          </a:p>
        </p:txBody>
      </p:sp>
      <p:sp>
        <p:nvSpPr>
          <p:cNvPr id="6" name="card Next steps"/>
          <p:cNvSpPr/>
          <p:nvPr/>
        </p:nvSpPr>
        <p:spPr>
          <a:xfrm>
            <a:off x="4663440" y="960120"/>
            <a:ext cx="4023360" cy="3520440"/>
          </a:xfrm>
          <a:prstGeom prst="rect">
            <a:avLst/>
          </a:prstGeom>
          <a:solidFill>
            <a:schemeClr val="bg2"/>
          </a:solidFill>
          <a:ln w="6350">
            <a:solidFill>
              <a:srgbClr val="C9CE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26464"/>
            <a:ext cx="365760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Element runs on 24³ with the Lax–Wendroff form for the convergence 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Thesis finished by 4 November with the results up to then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Thesis PDF by 14 December, colloquium on 16 December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A joint paper on the coupling and its verification, aimed at June 2027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[1] F. Klempt, M. Soleimani, P. Wriggers, P. Junker. A Hamilton principle-based model for diffusion-driven biofilm growth. </a:t>
            </a:r>
            <a:pPr indent="0" marL="0">
              <a:spcAft>
                <a:spcPts val="12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Biomech. Model. Mechanobiol.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23 (2024) 2091–2113.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[2] F. Klempt, H. Geisler, M. Soleimani, P. Junker. A continuum multi-species bacterial growth model with a novel interaction scheme. </a:t>
            </a:r>
            <a:pPr indent="0" marL="0">
              <a:spcAft>
                <a:spcPts val="12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Arch. Appl. Mech.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96 (2026) 164.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[3] L. Fritsch, H. Geisler, J. Grashorn, F. Klempt, M. Soleimani, M. Broggi, P. Junker, M. Beer. Bayesian updating of constitutive parameters under hybrid uncertainties with a novel surrogate model applied to biofilms. arXiv:2512.15145 (2025).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Appendix A: notation</a:t>
            </a:r>
            <a:endParaRPr lang="en-US" sz="2400" dirty="0"/>
          </a:p>
        </p:txBody>
      </p:sp>
      <p:graphicFrame>
        <p:nvGraphicFramePr>
          <p:cNvPr id="15" name="nota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φ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chemeClr val="tx1"/>
                          </a:solidFill>
                        </a:rPr>
                        <a:t>3D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, 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biofilm phase field and growth (F</a:t>
                      </a:r>
                      <a:pPr indent="0" marL="0">
                        <a:buNone/>
                      </a:pPr>
                      <a:r>
                        <a:rPr lang="en-US" sz="1200" baseline="-40000" dirty="0">
                          <a:solidFill>
                            <a:schemeClr val="tx1"/>
                          </a:solidFill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= α I, α(0) = 1), Klempt et al. 2024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c, 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nutrient and antibiotic fields (the element's first and second nutrient field)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β, k</a:t>
                      </a:r>
                      <a:pPr indent="0" marL="0">
                        <a:buNone/>
                      </a:pPr>
                      <a:r>
                        <a:rPr lang="en-US" sz="1200" b="1" baseline="-40000" dirty="0">
                          <a:solidFill>
                            <a:schemeClr val="tx1"/>
                          </a:solidFill>
                        </a:rPr>
                        <a:t>α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, r, 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diffusion of φ, growth rate, front speed, Monod constant (Eqs. 34, 36)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d, 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diffusion and uptake of c and a (Eq. 35)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φᵢ, ψᵢ, φ₀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volume fraction and living fraction of species i, void (Klempt et al. 2026)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φ̄ᵢ = φᵢψᵢ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living volume fraction of species i; Σᵢ φ̄ᵢ enters the consumption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c* = c*₀ c, α* = α*₀ 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nutrient and antibiotic seen by the point model (not the growth α)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T*,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normalised time; point-model time per unit T* (s = 0.1)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Appendix B: equations and constants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φ̇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3D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= β∇²φ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3D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+ k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α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α − r c/(k + c) n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c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·∇φ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3D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 (Eq. 34)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ċ = d∇²c − g φ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3D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(Σᵢ φ̄ᵢ) c,   ȧ = d∇²a − g φ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3D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(Σᵢ φ̄ᵢ) a   (Eq. 35; gφ printed is a misprint)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α̇ = k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α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φ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3D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 (Eq. 36, unchanged)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Point model of Klempt et al. 2026 at every Gauss point as published, with Σᵢ φᵢ + φ₀ = 1</a:t>
            </a:r>
            <a:endParaRPr lang="en-US" sz="1300" dirty="0"/>
          </a:p>
        </p:txBody>
      </p:sp>
      <p:graphicFrame>
        <p:nvGraphicFramePr>
          <p:cNvPr id="16" name="consta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4023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β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0.02 mm²/T*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Klempt 2024 Table 2, converted to the 2 mm cube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d, 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10⁸ mm²/T*, gℓ²/d =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Table 2 (fields quasi-steady within 4e−8 T*)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r, k, k</a:t>
                      </a:r>
                      <a:pPr indent="0" marL="0">
                        <a:buNone/>
                      </a:pPr>
                      <a:r>
                        <a:rPr lang="en-US" sz="1100" b="1" baseline="-40000" dirty="0">
                          <a:solidFill>
                            <a:schemeClr val="tx1"/>
                          </a:solidFill>
                        </a:rPr>
                        <a:t>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 mm/T*, 1, 10⁻³ 1/T*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Table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E, 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 Pa, 0.49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Table 2; void floor f = 10⁻³ (converged)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A, b, η, c*₀, 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Fritsch case I, 100, 0.1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Fritsch et al. 2025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α*₀, onset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100 from T* = 1/3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Klempt 2026 case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φ</a:t>
                      </a:r>
                      <a:pPr indent="0" marL="0">
                        <a:buNone/>
                      </a:pPr>
                      <a:r>
                        <a:rPr lang="en-US" sz="1100" b="1" baseline="-40000" dirty="0">
                          <a:solidFill>
                            <a:schemeClr val="tx1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in a paper; converged (assumption)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film coupling academic">
  <a:themeElements>
    <a:clrScheme name="Biofilm coupling academic">
      <a:dk1>
        <a:srgbClr val="1A1A1A"/>
      </a:dk1>
      <a:lt1>
        <a:srgbClr val="FFFFFF"/>
      </a:lt1>
      <a:dk2>
        <a:srgbClr val="143264"/>
      </a:dk2>
      <a:lt2>
        <a:srgbClr val="F3F4F6"/>
      </a:lt2>
      <a:accent1>
        <a:srgbClr val="2E7D6B"/>
      </a:accent1>
      <a:accent2>
        <a:srgbClr val="D9952A"/>
      </a:accent2>
      <a:accent3>
        <a:srgbClr val="B5473A"/>
      </a:accent3>
      <a:accent4>
        <a:srgbClr val="3F6EA5"/>
      </a:accent4>
      <a:accent5>
        <a:srgbClr val="7F8C8D"/>
      </a:accent5>
      <a:accent6>
        <a:srgbClr val="6B4C9A"/>
      </a:accent6>
      <a:hlink>
        <a:srgbClr val="3F6EA5"/>
      </a:hlink>
      <a:folHlink>
        <a:srgbClr val="6B4C9A"/>
      </a:folHlink>
    </a:clrScheme>
    <a:fontScheme name="Biofilm coupling academic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Coupling the point model to the growth field: progress</dc:title>
  <dc:subject>PptxGenJS Presentation</dc:subject>
  <dc:creator>Keisuke Nishioka</dc:creator>
  <cp:lastModifiedBy>Keisuke Nishioka</cp:lastModifiedBy>
  <cp:revision>1</cp:revision>
  <dcterms:created xsi:type="dcterms:W3CDTF">2026-10-25T20:28:33Z</dcterms:created>
  <dcterms:modified xsi:type="dcterms:W3CDTF">2026-10-25T20:28:33Z</dcterms:modified>
</cp:coreProperties>
</file>