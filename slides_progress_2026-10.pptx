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751c1685-8042-c914-13af-60b4d36317ad}">
          <p14:sldIdLst>
            <p14:sldId id="256"/>
            <p14:sldId id="257"/>
          </p14:sldIdLst>
        </p14:section>
        <p14:section name="Model" id="{1f8699e4-324e-b321-f55a-f5063dccb43d}">
          <p14:sldIdLst>
            <p14:sldId id="258"/>
          </p14:sldIdLst>
        </p14:section>
        <p14:section name="Examples" id="{3767a19f-771d-9967-bbb3-001b54a04bc3}">
          <p14:sldIdLst>
            <p14:sldId id="259"/>
            <p14:sldId id="260"/>
            <p14:sldId id="261"/>
          </p14:sldIdLst>
        </p14:section>
        <p14:section name="Numerics" id="{9d2fc0b0-2200-60b4-412f-d90b0afb0c25}">
          <p14:sldIdLst>
            <p14:sldId id="262"/>
            <p14:sldId id="263"/>
            <p14:sldId id="264"/>
          </p14:sldIdLst>
        </p14:section>
        <p14:section name="Geometry" id="{21b01557-622b-1222-5ad3-685c8702b5d7}">
          <p14:sldIdLst>
            <p14:sldId id="265"/>
            <p14:sldId id="266"/>
          </p14:sldIdLst>
        </p14:section>
        <p14:section name="Next" id="{0b6d9b33-9f94-edee-fb04-ec413b25a995}">
          <p14:sldIdLst>
            <p14:sldId id="267"/>
          </p14:sldIdLst>
        </p14:section>
        <p14:section name="Appendix" id="{1a86f21f-247b-1230-860a-ce2f52aefb7b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A2F"/>
                </a:solidFill>
                <a:latin typeface="+mn-lt"/>
              </a:rPr>
              <a:t>Seed α − 1 [1e−4]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Python, TVD</c:v>
                </c:pt>
              </c:strCache>
            </c:strRef>
          </c:tx>
          <c:spPr>
            <a:solidFill>
              <a:srgbClr val="2E7D6B"/>
            </a:solidFill>
            <a:ln w="25400" cap="flat">
              <a:solidFill>
                <a:srgbClr val="2E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6B"/>
              </a:solidFill>
              <a:ln w="9525" cap="flat">
                <a:solidFill>
                  <a:srgbClr val="2E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8.25</c:v>
                </c:pt>
                <c:pt idx="1">
                  <c:v/>
                </c:pt>
                <c:pt idx="2">
                  <c:v>8.82</c:v>
                </c:pt>
                <c:pt idx="3">
                  <c:v/>
                </c:pt>
                <c:pt idx="4">
                  <c:v>9.17</c:v>
                </c:pt>
                <c:pt idx="5">
                  <c:v>9.33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Python, LW + sensor</c:v>
                </c:pt>
              </c:strCache>
            </c:strRef>
          </c:tx>
          <c:spPr>
            <a:solidFill>
              <a:srgbClr val="D9952A"/>
            </a:solidFill>
            <a:ln w="25400" cap="flat">
              <a:solidFill>
                <a:srgbClr val="D995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952A"/>
              </a:solidFill>
              <a:ln w="9525" cap="flat">
                <a:solidFill>
                  <a:srgbClr val="D995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7.95</c:v>
                </c:pt>
                <c:pt idx="1">
                  <c:v>8.52</c:v>
                </c:pt>
                <c:pt idx="2">
                  <c:v>8.8</c:v>
                </c:pt>
                <c:pt idx="3">
                  <c:v>9.08</c:v>
                </c:pt>
                <c:pt idx="4">
                  <c:v>9.21</c:v>
                </c:pt>
                <c:pt idx="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Python, r h/4</c:v>
                </c:pt>
              </c:strCache>
            </c:strRef>
          </c:tx>
          <c:spPr>
            <a:solidFill>
              <a:srgbClr val="7F8C8D"/>
            </a:solidFill>
            <a:ln w="25400" cap="flat">
              <a:solidFill>
                <a:srgbClr val="7F8C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8C8D"/>
              </a:solidFill>
              <a:ln w="9525" cap="flat">
                <a:solidFill>
                  <a:srgbClr val="7F8C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6.27</c:v>
                </c:pt>
                <c:pt idx="1">
                  <c:v>7.26</c:v>
                </c:pt>
                <c:pt idx="2">
                  <c:v>7.72</c:v>
                </c:pt>
                <c:pt idx="3">
                  <c:v>8.2</c:v>
                </c:pt>
                <c:pt idx="4">
                  <c:v>8.43</c:v>
                </c:pt>
                <c:pt idx="5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Element, LW + sensor</c:v>
                </c:pt>
              </c:strCache>
            </c:strRef>
          </c:tx>
          <c:spPr>
            <a:solidFill>
              <a:srgbClr val="B5473A"/>
            </a:solidFill>
            <a:ln w="25400" cap="flat">
              <a:solidFill>
                <a:srgbClr val="B547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473A"/>
              </a:solidFill>
              <a:ln w="9525" cap="flat">
                <a:solidFill>
                  <a:srgbClr val="B547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8.19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Element, r h/4</c:v>
                </c:pt>
              </c:strCache>
            </c:strRef>
          </c:tx>
          <c:spPr>
            <a:solidFill>
              <a:srgbClr val="3F6EA5"/>
            </a:solidFill>
            <a:ln w="25400" cap="flat">
              <a:solidFill>
                <a:srgbClr val="3F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F6EA5"/>
              </a:solidFill>
              <a:ln w="9525" cap="flat">
                <a:solidFill>
                  <a:srgbClr val="3F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5.73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majorGridlines>
          <c:spPr>
            <a:ln w="6350" cap="flat">
              <a:solidFill>
                <a:srgbClr val="D5DE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A2F"/>
                </a:solidFill>
                <a:latin typeface="+mn-lt"/>
              </a:rPr>
              <a:t>Seed von Mises [1e−4 Pa]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Python, TVD</c:v>
                </c:pt>
              </c:strCache>
            </c:strRef>
          </c:tx>
          <c:spPr>
            <a:solidFill>
              <a:srgbClr val="2E7D6B"/>
            </a:solidFill>
            <a:ln w="25400" cap="flat">
              <a:solidFill>
                <a:srgbClr val="2E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6B"/>
              </a:solidFill>
              <a:ln w="9525" cap="flat">
                <a:solidFill>
                  <a:srgbClr val="2E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6.51</c:v>
                </c:pt>
                <c:pt idx="1">
                  <c:v/>
                </c:pt>
                <c:pt idx="2">
                  <c:v>5.9</c:v>
                </c:pt>
                <c:pt idx="3">
                  <c:v/>
                </c:pt>
                <c:pt idx="4">
                  <c:v>5.98</c:v>
                </c:pt>
                <c:pt idx="5">
                  <c:v>6.05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Python, LW + sensor</c:v>
                </c:pt>
              </c:strCache>
            </c:strRef>
          </c:tx>
          <c:spPr>
            <a:solidFill>
              <a:srgbClr val="D9952A"/>
            </a:solidFill>
            <a:ln w="25400" cap="flat">
              <a:solidFill>
                <a:srgbClr val="D995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952A"/>
              </a:solidFill>
              <a:ln w="9525" cap="flat">
                <a:solidFill>
                  <a:srgbClr val="D995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4.2</c:v>
                </c:pt>
                <c:pt idx="1">
                  <c:v>5.31</c:v>
                </c:pt>
                <c:pt idx="2">
                  <c:v>5.85</c:v>
                </c:pt>
                <c:pt idx="3">
                  <c:v>6.28</c:v>
                </c:pt>
                <c:pt idx="4">
                  <c:v>6.26</c:v>
                </c:pt>
                <c:pt idx="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Python, r h/4</c:v>
                </c:pt>
              </c:strCache>
            </c:strRef>
          </c:tx>
          <c:spPr>
            <a:solidFill>
              <a:srgbClr val="7F8C8D"/>
            </a:solidFill>
            <a:ln w="25400" cap="flat">
              <a:solidFill>
                <a:srgbClr val="7F8C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8C8D"/>
              </a:solidFill>
              <a:ln w="9525" cap="flat">
                <a:solidFill>
                  <a:srgbClr val="7F8C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1.73</c:v>
                </c:pt>
                <c:pt idx="1">
                  <c:v>2.78</c:v>
                </c:pt>
                <c:pt idx="2">
                  <c:v>3.4</c:v>
                </c:pt>
                <c:pt idx="3">
                  <c:v>4.29</c:v>
                </c:pt>
                <c:pt idx="4">
                  <c:v>4.8</c:v>
                </c:pt>
                <c:pt idx="5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Element, LW + sensor</c:v>
                </c:pt>
              </c:strCache>
            </c:strRef>
          </c:tx>
          <c:spPr>
            <a:solidFill>
              <a:srgbClr val="B5473A"/>
            </a:solidFill>
            <a:ln w="25400" cap="flat">
              <a:solidFill>
                <a:srgbClr val="B547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473A"/>
              </a:solidFill>
              <a:ln w="9525" cap="flat">
                <a:solidFill>
                  <a:srgbClr val="B547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4.2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Element, r h/4</c:v>
                </c:pt>
              </c:strCache>
            </c:strRef>
          </c:tx>
          <c:spPr>
            <a:solidFill>
              <a:srgbClr val="3F6EA5"/>
            </a:solidFill>
            <a:ln w="25400" cap="flat">
              <a:solidFill>
                <a:srgbClr val="3F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F6EA5"/>
              </a:solidFill>
              <a:ln w="9525" cap="flat">
                <a:solidFill>
                  <a:srgbClr val="3F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1.33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D5DE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messages: the coupling is in the element as agreed; the composition results are robust; the front term is the numerical difficulty; with a proper scheme the stress converges.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Fields to point model: c* = c*_0 c and alpha* = alpha*_0 a, linear in time over the inner steps. Point model to fields: the living volume fraction sum_i phibar_i scales the consumption of c and a. Eq. 36 is unchanged, so the composition reaches the stress through the nutrient field and the front term.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Python, 64-cube grid, one eighth cut away. Panels as in the caption band of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set-up, mixed start with equal amounts (Oliver's suggestion).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 three changes Eqs. 34 to 36. Klempt 2024 does not state a stabilisation; on its own mesh the cell Peclet number is about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Checks that passed: every traced point-model step in the element equals the point model alone to 1.8e-12; the transient nutrient equation with the Table 2 diffusivity equals the quasi-static one to 1e-4; the time step 0.00125 is converged to about 1 %.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Coupling the point model to the growth field  |  progress, October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Coupling the multi-species point model to the growth field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Progress report for Oliver and Dr. Soleimani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Keisuke Nishioka, IKM, Leibniz Universität Hannover,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Where the coupling stands</a:t>
            </a:r>
            <a:endParaRPr lang="en-US" sz="2600" dirty="0"/>
          </a:p>
        </p:txBody>
      </p:sp>
      <p:sp>
        <p:nvSpPr>
          <p:cNvPr id="3" name="card Implemented as agreed"/>
          <p:cNvSpPr/>
          <p:nvPr/>
        </p:nvSpPr>
        <p:spPr>
          <a:xfrm>
            <a:off x="457200" y="1051560"/>
            <a:ext cx="1920240" cy="34747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codes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647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Implemented as agreed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04288"/>
            <a:ext cx="1554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point model runs at every Gauss point of your element as published; consumption by the living biomass; antibiotic in the second nutrient field. A Python version solves the same equations.</a:t>
            </a:r>
            <a:endParaRPr lang="en-US" sz="1200" dirty="0"/>
          </a:p>
        </p:txBody>
      </p:sp>
      <p:sp>
        <p:nvSpPr>
          <p:cNvPr id="7" name="card Composition is robust"/>
          <p:cNvSpPr/>
          <p:nvPr/>
        </p:nvSpPr>
        <p:spPr>
          <a:xfrm>
            <a:off x="2514600" y="1051560"/>
            <a:ext cx="1920240" cy="34747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16128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7647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Composition is robust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304288"/>
            <a:ext cx="1554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Living fraction, shares and nutrient agree between the codes and do not change from 16³ to 128³.</a:t>
            </a:r>
            <a:endParaRPr lang="en-US" sz="1200" dirty="0"/>
          </a:p>
        </p:txBody>
      </p:sp>
      <p:sp>
        <p:nvSpPr>
          <p:cNvPr id="11" name="card Front term needs care"/>
          <p:cNvSpPr/>
          <p:nvPr/>
        </p:nvSpPr>
        <p:spPr>
          <a:xfrm>
            <a:off x="4572000" y="1051560"/>
            <a:ext cx="1920240" cy="34747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116128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 ≈ 31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647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Front term needs care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304288"/>
            <a:ext cx="1554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At the paper's r the cell Péclet number is about 31 on 16³; a central gradient oscillates. Three stabilisations compared.</a:t>
            </a:r>
            <a:endParaRPr lang="en-US" sz="1200" dirty="0"/>
          </a:p>
        </p:txBody>
      </p:sp>
      <p:sp>
        <p:nvSpPr>
          <p:cNvPr id="15" name="card Stress converges"/>
          <p:cNvSpPr/>
          <p:nvPr/>
        </p:nvSpPr>
        <p:spPr>
          <a:xfrm>
            <a:off x="6629400" y="1051560"/>
            <a:ext cx="2057400" cy="347472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116128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6.2e−4 Pa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176479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Stress converges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2304288"/>
            <a:ext cx="16916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With second-order schemes the seed von Mises stress settles from 32³ on (separate example).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coupling agreed on 20 October</a:t>
            </a:r>
            <a:endParaRPr lang="en-US" sz="2600" dirty="0"/>
          </a:p>
        </p:txBody>
      </p:sp>
      <p:pic>
        <p:nvPicPr>
          <p:cNvPr id="3" name="coupling schematic" descr="Schematic: 3D fields pass c* and alpha* to the point model, which returns the living volume fra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221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Separate example with antibiotic</a:t>
            </a:r>
            <a:endParaRPr lang="en-US" sz="2600" dirty="0"/>
          </a:p>
        </p:txBody>
      </p:sp>
      <p:pic>
        <p:nvPicPr>
          <p:cNvPr id="3" name="video Separate example with antibioti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914400" y="914400"/>
            <a:ext cx="731520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(point-model species 1) in the seed, B (species 2) in four blocks at the z edges; nutrient from the bottom, antibiotic from all outer faces from T* = 1/3 (α*₀ = 100)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Newly reached cells take the composition of the biofilm they grow from; the antibiotic kills B and, where the nutrient is low, 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Mixed example with antibiotic</a:t>
            </a:r>
            <a:endParaRPr lang="en-US" sz="2600" dirty="0"/>
          </a:p>
        </p:txBody>
      </p:sp>
      <p:pic>
        <p:nvPicPr>
          <p:cNvPr id="3" name="video Mixed example with antibioti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914400" y="914400"/>
            <a:ext cx="731520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and B start together in the seed with equal amounts; same nutrient and antibiotic as before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antibiotic acts where c* = c*₀ c falls below α* bᵢ: the nutrient field decides where it kills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Five examples on the finest grid</a:t>
            </a:r>
            <a:endParaRPr lang="en-US" sz="2600" dirty="0"/>
          </a:p>
        </p:txBody>
      </p:sp>
      <p:graphicFrame>
        <p:nvGraphicFramePr>
          <p:cNvPr id="7" name="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051560"/>
                <a:gridCol w="1051560"/>
                <a:gridCol w="109728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Example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Σᵢ φ̄ᵢ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share of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nutrient 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α − 1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von Mises [Pa]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Separate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0.965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0.539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9.32e−4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6.18e−4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Separate,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0.147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0.951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9.33e−4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6.05e−4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Mixed, equal amounts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0.848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9.07e−4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4.87e−4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Mixed, equal amounts,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0.038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0.613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9.05e−4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4.26e−4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 (0.25, 0.30),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9.04e−4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4.29e−4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Seed means at T* = 1, Python, 128³ grid, TVD front term. Constants: Klempt 2024 Table 2 converted, Fritsch et al. 2025 case I, α*₀ = 100 from T* = 1/3.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antibiotic lowers the living fraction of the seed from 0.965 to 0.147 (separate) and from 0.960 to 0.038 (mixed)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α − 1 hardly changes between examples (Eq. 36 is unchanged): the composition reaches the stress through c and the front term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front term is an advection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= r h / (2β) ≈ 31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16³ (r = 10 mm/T*, β = 0.02 mm²/T*). With a central gradient φ oscillates and the element stops after two increments; a smaller time step does not help.</a:t>
            </a:r>
            <a:endParaRPr lang="en-US" sz="2200" dirty="0"/>
          </a:p>
        </p:txBody>
      </p:sp>
      <p:sp>
        <p:nvSpPr>
          <p:cNvPr id="4" name="card Constant added diffusion r h/4"/>
          <p:cNvSpPr/>
          <p:nvPr/>
        </p:nvSpPr>
        <p:spPr>
          <a:xfrm>
            <a:off x="4023360" y="960120"/>
            <a:ext cx="46634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206240" y="1097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Constant added diffusion r h/4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42646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First order. Stable in the element, but the stress at 16³ is about a quarter of the converged value.</a:t>
            </a:r>
            <a:endParaRPr lang="en-US" sz="1200" dirty="0"/>
          </a:p>
        </p:txBody>
      </p:sp>
      <p:sp>
        <p:nvSpPr>
          <p:cNvPr id="7" name="card Lax–Wendroff with an extremum sensor"/>
          <p:cNvSpPr/>
          <p:nvPr/>
        </p:nvSpPr>
        <p:spPr>
          <a:xfrm>
            <a:off x="4023360" y="2194560"/>
            <a:ext cx="46634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06240" y="23317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Lax–Wendroff with an extremum sensor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66090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Used in the element: second order away from extrema, φ stays in [0, 1]; on 16³ it matches Python with the same form.</a:t>
            </a:r>
            <a:endParaRPr lang="en-US" sz="1200" dirty="0"/>
          </a:p>
        </p:txBody>
      </p:sp>
      <p:sp>
        <p:nvSpPr>
          <p:cNvPr id="10" name="card TVD upwinding (MUSCL, minmod)"/>
          <p:cNvSpPr/>
          <p:nvPr/>
        </p:nvSpPr>
        <p:spPr>
          <a:xfrm>
            <a:off x="4023360" y="3429000"/>
            <a:ext cx="46634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06240" y="3566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TVD upwinding (MUSCL, minmod)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89534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Used in Python for the main results; converged from 64³ 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Growth converges for every scheme, stress only for second-order ones</a:t>
            </a:r>
            <a:endParaRPr lang="en-US" sz="2600" dirty="0"/>
          </a:p>
        </p:txBody>
      </p:sp>
      <p:graphicFrame>
        <p:nvGraphicFramePr>
          <p:cNvPr id="3" name="chart alpha" descr=""/>
          <p:cNvGraphicFramePr/>
          <p:nvPr/>
        </p:nvGraphicFramePr>
        <p:xfrm>
          <a:off x="457200" y="914400"/>
          <a:ext cx="40233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stress" descr=""/>
          <p:cNvGraphicFramePr/>
          <p:nvPr/>
        </p:nvGraphicFramePr>
        <p:xfrm>
          <a:off x="4663440" y="914400"/>
          <a:ext cx="40233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4074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Separate example with antibiotic, T* = 1, h = 2 mm / n. Element = your element with the agreed coupling (ANSYS), 16³ so far.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What the comparison found in the element and in Python</a:t>
            </a:r>
            <a:endParaRPr lang="en-US" sz="2600" dirty="0"/>
          </a:p>
        </p:txBody>
      </p:sp>
      <p:sp>
        <p:nvSpPr>
          <p:cNvPr id="3" name="card Surface points of the element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Surface points of the element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264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φ at the surface points was an inverse-distance mean that also took inner points; at a wall with φ = 1 it came out low and φ leaked through the wall. Taking the nearest Gauss point reduced the leak to a quarter.</a:t>
            </a:r>
            <a:endParaRPr lang="en-US" sz="1200" dirty="0"/>
          </a:p>
        </p:txBody>
      </p:sp>
      <p:sp>
        <p:nvSpPr>
          <p:cNvPr id="6" name="card Column sums of the NEM Laplacian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Column sums of the NEM Laplacian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264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rows sum to zero, the columns do not, so the operator does not conserve φ with equal weights. A conservative form removes the rest of the leak.</a:t>
            </a:r>
            <a:endParaRPr lang="en-US" sz="1200" dirty="0"/>
          </a:p>
        </p:txBody>
      </p:sp>
      <p:sp>
        <p:nvSpPr>
          <p:cNvPr id="9" name="card Neighbour selection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Neighbour selection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552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search keeps the first 30 points in element order; on 16³ and 24³ the stencils became asymmetric inside the domain. Selecting by distance makes them symmetric to 1e−15.</a:t>
            </a:r>
            <a:endParaRPr lang="en-US" sz="1200" dirty="0"/>
          </a:p>
        </p:txBody>
      </p:sp>
      <p:sp>
        <p:nvSpPr>
          <p:cNvPr id="12" name="card Python wall gradient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Python wall gradient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552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My Python version took a one-sided gradient in the wall cells for the front term; corrected to the zero-flux mirror. After both corrections the codes agree on 8³ within 1 to 5 %.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Growth around rigid bars (Klempt 2024, Sect. 4.3)</a:t>
            </a:r>
            <a:endParaRPr lang="en-US" sz="2600" dirty="0"/>
          </a:p>
        </p:txBody>
      </p:sp>
      <p:pic>
        <p:nvPicPr>
          <p:cNvPr id="3" name="obstacle 3D" descr="Surfaces phi = 0.5 around four bars at three times, separate and mixed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322099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309360" y="960120"/>
            <a:ext cx="23774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Four bars after Fig. 9 of the paper (positions read off the sketch), no biofilm or nutrient inside, frictionless contact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biofilm grows around the bars and closes behind them, as in Fig. 10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bars restrain the swelling: seed stress about ten times higher than without bars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maze of Fig. 11 with the coupling</a:t>
            </a:r>
            <a:endParaRPr lang="en-US" sz="2600" dirty="0"/>
          </a:p>
        </p:txBody>
      </p:sp>
      <p:pic>
        <p:nvPicPr>
          <p:cNvPr id="3" name="maze" descr="phi_3D in the maze at four times, without and with antibio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852160" cy="309615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92240" y="960120"/>
            <a:ext cx="219456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Maze read off Fig. 11 (560 µm across), 2D, h = 4 µm, Table 6 constants; nutrient held in the centre (red), colony at the entrance (top)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biofilm follows the corridors, also into dead ends, and comes within about 40 µm of the source by T* = 60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Antibiotic held at the entrance from T* = 20: φ falls behind the front and the biofilm stays about 130 µm from the source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Questions and next steps</a:t>
            </a:r>
            <a:endParaRPr lang="en-US" sz="2600" dirty="0"/>
          </a:p>
        </p:txBody>
      </p:sp>
      <p:sp>
        <p:nvSpPr>
          <p:cNvPr id="3" name="card Questions for you"/>
          <p:cNvSpPr/>
          <p:nvPr/>
        </p:nvSpPr>
        <p:spPr>
          <a:xfrm>
            <a:off x="457200" y="960120"/>
            <a:ext cx="402336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Questions for you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26464"/>
            <a:ext cx="36576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1. How was the front term stabilised in the runs of Klempt 2024? The cell Péclet number is about 25 on the paper's mesh.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2. Can I keep the three element fixes (nearest Gauss point at the surface, conservative Laplacian, neighbours by distance)?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 Is a stabilised front term acceptable in the thesis, stated as a numerical treatment of Eq. 34?</a:t>
            </a:r>
            <a:endParaRPr lang="en-US" sz="1200" dirty="0"/>
          </a:p>
        </p:txBody>
      </p:sp>
      <p:sp>
        <p:nvSpPr>
          <p:cNvPr id="6" name="card Next steps"/>
          <p:cNvSpPr/>
          <p:nvPr/>
        </p:nvSpPr>
        <p:spPr>
          <a:xfrm>
            <a:off x="4663440" y="960120"/>
            <a:ext cx="402336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26464"/>
            <a:ext cx="36576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Element runs on 24³ with the Lax–Wendroff form for the convergence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Chapter 4 rewritten with these results by 13 November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Thesis PDF by 14 December, colloquium on 16 December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A joint paper on the coupling and its verification, aimed at June 2027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Appendix A: notation</a:t>
            </a:r>
            <a:endParaRPr lang="en-US" sz="2600" dirty="0"/>
          </a:p>
        </p:txBody>
      </p:sp>
      <p:graphicFrame>
        <p:nvGraphicFramePr>
          <p:cNvPr id="14" name="notat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φ_3D, 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biofilm phase field and growth (F_g = α I, α(0) = 1), Klempt et al. 2024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c,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nutrient and antibiotic fields (the element's first and second nutrient field)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β, k_α, r, 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diffusion of φ, growth rate, front speed, Monod constant (Eqs. 34, 36)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d, 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diffusion and uptake of c and a (Eq. 35)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φᵢ, ψᵢ, φ₀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volume fraction and living fraction of species i, void (Klempt et al. 2026)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φ̄ᵢ = φᵢψᵢ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living volume fraction of species i; Σᵢ φ̄ᵢ enters the consumption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c* = c*₀ c, α* = α*₀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nutrient and antibiotic seen by the point model (not the growth α)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T*,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normalised time; point-model time per unit T* (s = 0.1)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Appendix B: equations and constants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φ̇_3D = β∇²φ_3D + k_αα − r c/(k + c) n_c·∇φ_3D   (Eq. 34 with the front term)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ċ = d∇²c − g φ_3D (Σᵢ φ̄ᵢ) c,   ȧ = d∇²a − g φ_3D (Σᵢ φ̄ᵢ) a   (Eq. 35; gφ printed is a misprint)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α̇ = k_α φ_3D   (Eq. 36, unchanged)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Point model of Klempt et al. 2026 at every Gauss point as published, with Σᵢ φᵢ + φ₀ = 1</a:t>
            </a:r>
            <a:endParaRPr lang="en-US" sz="1300" dirty="0"/>
          </a:p>
        </p:txBody>
      </p:sp>
      <p:graphicFrame>
        <p:nvGraphicFramePr>
          <p:cNvPr id="15" name="consta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4023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β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0.02 mm²/T*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Klempt 2024 Table 2, converted to the 2 mm cube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d, 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10⁸ mm²/T*, gℓ²/d =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 (fields quasi-steady within 4e−8 T*)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r, k, k_α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 mm/T*, 1, 10⁻³ 1/T*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E, ν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 Pa, 0.49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2; void floor f = 10⁻³ (converged)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A, b, η, c*₀,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Fritsch case I, 100, 0.1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Fritsch et al. 2025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α*₀, onset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 from T* = 1/3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Klempt 2026 case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φ_min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not in a paper; converged (assumption)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film coupling">
  <a:themeElements>
    <a:clrScheme name="Biofilm coupling">
      <a:dk1>
        <a:srgbClr val="1B2A2F"/>
      </a:dk1>
      <a:lt1>
        <a:srgbClr val="FFFFFF"/>
      </a:lt1>
      <a:dk2>
        <a:srgbClr val="1F4E5A"/>
      </a:dk2>
      <a:lt2>
        <a:srgbClr val="EEF3F2"/>
      </a:lt2>
      <a:accent1>
        <a:srgbClr val="2E7D6B"/>
      </a:accent1>
      <a:accent2>
        <a:srgbClr val="D9952A"/>
      </a:accent2>
      <a:accent3>
        <a:srgbClr val="B5473A"/>
      </a:accent3>
      <a:accent4>
        <a:srgbClr val="3F6EA5"/>
      </a:accent4>
      <a:accent5>
        <a:srgbClr val="7F8C8D"/>
      </a:accent5>
      <a:accent6>
        <a:srgbClr val="6B4C9A"/>
      </a:accent6>
      <a:hlink>
        <a:srgbClr val="3F6EA5"/>
      </a:hlink>
      <a:folHlink>
        <a:srgbClr val="6B4C9A"/>
      </a:folHlink>
    </a:clrScheme>
    <a:fontScheme name="Biofilm coupl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Coupling the point model to the growth field: progress</dc:title>
  <dc:subject>PptxGenJS Presentation</dc:subject>
  <dc:creator>Keisuke Nishioka</dc:creator>
  <cp:lastModifiedBy>Keisuke Nishioka</cp:lastModifiedBy>
  <cp:revision>1</cp:revision>
  <dcterms:created xsi:type="dcterms:W3CDTF">2026-10-24T14:35:15Z</dcterms:created>
  <dcterms:modified xsi:type="dcterms:W3CDTF">2026-10-24T14:35:15Z</dcterms:modified>
</cp:coreProperties>
</file>